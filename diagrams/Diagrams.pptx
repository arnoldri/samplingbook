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93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51C85-47A4-4C82-8296-AAF95541A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98FCF1-CF4B-423E-AEFB-70E981513B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B3363-B222-4555-9489-1579D4B8E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76E5-AF41-4269-8D98-166EAD51C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A9429-0553-44F7-9791-7CA803B06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85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299DC-3E57-42F4-B0E4-BC8F5D47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11D85-6380-4ED7-8C08-7EFA5AAB8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FAEE4-6F6A-4F1F-BD6A-5B8DC150F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700C-95BD-428B-A0C6-E45F4FC96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BACB7-6B9D-4A30-9F8A-F722C24AC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637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87DE-0597-4655-9FED-19E63A75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116F1-01CA-4368-972C-7C0D966DE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48424-4FFF-48AD-AC6E-FCD278915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645C-7730-4031-AC92-C4ADBEA9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8CF89-C173-4AC6-82A1-4EB6EABA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593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8CC0-A44E-48FC-84FA-D6110C3C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976FB-6C85-4A89-91F4-A3B92B792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E2010-5CE4-4855-8888-57B34AD0D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036C5-EB48-4489-B46E-63E0CA33A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D6B8C-076E-4974-B822-9DE5CF26C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98193-CD96-4B8B-9951-258D87AE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160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7283-20E8-4111-AF04-7F5BD2290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1D45F-2819-4770-A8A0-7435B6B1B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D273A-A946-4C90-89D9-7F7A7297D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765138-9C0D-4034-AE99-D600B9388D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24625-6CFA-4F9C-9833-08DE6235E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B252C-33BB-4054-8933-7D167CBFB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F2B517-8397-4653-875C-806B0096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26E55-FFC1-4CA3-98F9-D737817B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6999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9F2D2-F194-421A-A259-DDE49AE95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F4EC4-4B38-4763-A1C0-6091F125C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83BDB7-14C0-4A18-8E14-63306E21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227C0-42A6-430D-BBC4-FCF00502C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8224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FE6FD-8852-497B-BB5A-3728A4E9E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71687-D2B8-4B70-8C48-5A374BFB5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F4D5-E245-4199-B51F-3C777D3B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4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D1B6B-4134-4E00-8DC9-83F4C5141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8E4C-8FD3-4145-BB63-603ED8EE9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CE2C8-70E0-495F-BE4F-207C2721D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C90C8-B42F-4D2A-A1D4-DA62E752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42D2E-4754-4E6E-9873-DE4A7B319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30AEF-8E8E-4F4C-9E91-6E3AA3DA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77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D1D1-DA26-40CA-BFE9-FC3A77C19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66CA4-ECF9-4DA8-8224-56331FF11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9A4AC-499B-423D-9BCC-3C22F3504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920D40-ECA6-42E7-A463-D1F3C5C1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60698-ACDF-47E7-8685-E2B348E14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C1D1A-2725-493C-A2C2-13ACA447B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784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1B57-4377-4CE8-9D2B-55A5C9422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72EDF-0597-4B19-B417-BD1C4EC89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B170F-4F19-45DF-BBB5-4654433B7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99E34-88D1-48C1-9E85-B3BB57CA2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700DF-5CF0-4E0D-B025-24081E7B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178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36C1A-FC38-4CC8-9C18-5AC3BDEDC1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D472E-509B-4D0E-A793-CFC4F526B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689B5-7F92-49B8-8914-737BC6E1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31889-154C-42A5-B60C-7CDD1573B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F312-7F18-4DA9-8967-04BA10607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85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7EE1E8-0D08-4E05-9E9A-AEE84466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06DA4-557F-4F21-825E-CECFD4D18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F4D6F-C17F-4E0A-832D-5394AC873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1C373-98A3-4876-B8FE-FEB4A308698B}" type="datetimeFigureOut">
              <a:rPr lang="en-GB" smtClean="0"/>
              <a:t>03/03/2022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BCE55-5B15-4D62-96FC-25E92CE39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E9267-6B9B-4B2F-A8CF-DCCECBCE23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11870-8C9A-4D41-AD23-87CC3B5EA9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96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s://www.varsitytutors.com/common_core_high_school__statistics_and_probability-help/fitting-data-sets-to-normal-distribution-and-estimating-area-under-the-curve-ccss-math-content-hss-id-a-4" TargetMode="External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CCDBAF-EC59-412F-9E62-4B33ABCD3EBB}"/>
              </a:ext>
            </a:extLst>
          </p:cNvPr>
          <p:cNvSpPr/>
          <p:nvPr/>
        </p:nvSpPr>
        <p:spPr>
          <a:xfrm>
            <a:off x="3675821" y="1063487"/>
            <a:ext cx="4840357" cy="473102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635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BE239-8384-4DC6-BD71-4EAF23268029}"/>
              </a:ext>
            </a:extLst>
          </p:cNvPr>
          <p:cNvSpPr txBox="1"/>
          <p:nvPr/>
        </p:nvSpPr>
        <p:spPr>
          <a:xfrm>
            <a:off x="5342427" y="208721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Census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7B41-E11A-4478-83AE-6E0AC3C738DE}"/>
              </a:ext>
            </a:extLst>
          </p:cNvPr>
          <p:cNvSpPr txBox="1"/>
          <p:nvPr/>
        </p:nvSpPr>
        <p:spPr>
          <a:xfrm>
            <a:off x="9124122" y="2594113"/>
            <a:ext cx="1928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every unit</a:t>
            </a:r>
          </a:p>
          <a:p>
            <a:r>
              <a:rPr lang="en-US" dirty="0"/>
              <a:t>in the population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8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CCDBAF-EC59-412F-9E62-4B33ABCD3EBB}"/>
              </a:ext>
            </a:extLst>
          </p:cNvPr>
          <p:cNvSpPr/>
          <p:nvPr/>
        </p:nvSpPr>
        <p:spPr>
          <a:xfrm>
            <a:off x="3675821" y="1063487"/>
            <a:ext cx="4840357" cy="473102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BE239-8384-4DC6-BD71-4EAF23268029}"/>
              </a:ext>
            </a:extLst>
          </p:cNvPr>
          <p:cNvSpPr txBox="1"/>
          <p:nvPr/>
        </p:nvSpPr>
        <p:spPr>
          <a:xfrm>
            <a:off x="3794728" y="168965"/>
            <a:ext cx="4602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Simple Random Sample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7B41-E11A-4478-83AE-6E0AC3C738DE}"/>
              </a:ext>
            </a:extLst>
          </p:cNvPr>
          <p:cNvSpPr txBox="1"/>
          <p:nvPr/>
        </p:nvSpPr>
        <p:spPr>
          <a:xfrm>
            <a:off x="9124122" y="2594113"/>
            <a:ext cx="217880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</a:t>
            </a:r>
            <a:r>
              <a:rPr lang="en-US" i="1" dirty="0"/>
              <a:t>n</a:t>
            </a:r>
            <a:r>
              <a:rPr lang="en-US" dirty="0"/>
              <a:t> units</a:t>
            </a:r>
            <a:br>
              <a:rPr lang="en-US" dirty="0"/>
            </a:br>
            <a:r>
              <a:rPr lang="en-US" dirty="0"/>
              <a:t>at random, any</a:t>
            </a:r>
          </a:p>
          <a:p>
            <a:r>
              <a:rPr lang="en-US" dirty="0"/>
              <a:t>combination of </a:t>
            </a:r>
          </a:p>
          <a:p>
            <a:r>
              <a:rPr lang="en-US" i="1" dirty="0"/>
              <a:t>n</a:t>
            </a:r>
            <a:r>
              <a:rPr lang="en-US" dirty="0"/>
              <a:t> units being equally </a:t>
            </a:r>
          </a:p>
          <a:p>
            <a:r>
              <a:rPr lang="en-US" dirty="0"/>
              <a:t>likely to be selected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1A92CC-C545-415A-9F2F-AC63A414E93F}"/>
              </a:ext>
            </a:extLst>
          </p:cNvPr>
          <p:cNvSpPr/>
          <p:nvPr/>
        </p:nvSpPr>
        <p:spPr>
          <a:xfrm>
            <a:off x="4041912" y="2042492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C9A4DD-B717-4940-97D8-205DED3D342A}"/>
              </a:ext>
            </a:extLst>
          </p:cNvPr>
          <p:cNvSpPr/>
          <p:nvPr/>
        </p:nvSpPr>
        <p:spPr>
          <a:xfrm>
            <a:off x="7338392" y="3878744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BC8452-24EC-401F-8542-9DA35D0753D3}"/>
              </a:ext>
            </a:extLst>
          </p:cNvPr>
          <p:cNvSpPr/>
          <p:nvPr/>
        </p:nvSpPr>
        <p:spPr>
          <a:xfrm>
            <a:off x="8312787" y="283279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B56438-7619-4432-8837-7B5332C9CF46}"/>
              </a:ext>
            </a:extLst>
          </p:cNvPr>
          <p:cNvSpPr/>
          <p:nvPr/>
        </p:nvSpPr>
        <p:spPr>
          <a:xfrm>
            <a:off x="7104822" y="3180521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864FD0-0693-40D7-BCBD-3E2AD888CAC0}"/>
              </a:ext>
            </a:extLst>
          </p:cNvPr>
          <p:cNvSpPr/>
          <p:nvPr/>
        </p:nvSpPr>
        <p:spPr>
          <a:xfrm>
            <a:off x="5895560" y="532074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2C727C-AFF1-48DA-8D38-39EF9CA4670A}"/>
              </a:ext>
            </a:extLst>
          </p:cNvPr>
          <p:cNvSpPr/>
          <p:nvPr/>
        </p:nvSpPr>
        <p:spPr>
          <a:xfrm>
            <a:off x="6221895" y="3265003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B11FCF-B819-4F19-9795-D49106F62F48}"/>
              </a:ext>
            </a:extLst>
          </p:cNvPr>
          <p:cNvSpPr/>
          <p:nvPr/>
        </p:nvSpPr>
        <p:spPr>
          <a:xfrm>
            <a:off x="4793973" y="2613992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B32B4A-A36C-497E-908D-3855579191EF}"/>
              </a:ext>
            </a:extLst>
          </p:cNvPr>
          <p:cNvSpPr/>
          <p:nvPr/>
        </p:nvSpPr>
        <p:spPr>
          <a:xfrm>
            <a:off x="4714461" y="1792357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816E3A-D139-4824-AF80-296D6A390EF0}"/>
              </a:ext>
            </a:extLst>
          </p:cNvPr>
          <p:cNvSpPr/>
          <p:nvPr/>
        </p:nvSpPr>
        <p:spPr>
          <a:xfrm>
            <a:off x="4151243" y="342900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D8FFDC-DC8E-4475-BFB0-4B201C4CB419}"/>
              </a:ext>
            </a:extLst>
          </p:cNvPr>
          <p:cNvSpPr/>
          <p:nvPr/>
        </p:nvSpPr>
        <p:spPr>
          <a:xfrm>
            <a:off x="6440556" y="460196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2448F1-506F-4DC0-9769-AA552D0D1001}"/>
              </a:ext>
            </a:extLst>
          </p:cNvPr>
          <p:cNvSpPr/>
          <p:nvPr/>
        </p:nvSpPr>
        <p:spPr>
          <a:xfrm>
            <a:off x="6334540" y="1452769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CC6A60-8EE5-491E-90E6-7B6B8C7598C3}"/>
              </a:ext>
            </a:extLst>
          </p:cNvPr>
          <p:cNvSpPr/>
          <p:nvPr/>
        </p:nvSpPr>
        <p:spPr>
          <a:xfrm>
            <a:off x="7828721" y="191162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36E536-4246-43A2-9FD7-5B329C7A5DA0}"/>
              </a:ext>
            </a:extLst>
          </p:cNvPr>
          <p:cNvSpPr/>
          <p:nvPr/>
        </p:nvSpPr>
        <p:spPr>
          <a:xfrm>
            <a:off x="7827065" y="121286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113CF4-18C5-43ED-AED7-8970DF92EAD6}"/>
              </a:ext>
            </a:extLst>
          </p:cNvPr>
          <p:cNvSpPr/>
          <p:nvPr/>
        </p:nvSpPr>
        <p:spPr>
          <a:xfrm>
            <a:off x="5635487" y="197291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D2B800-2AC6-4A7F-BDC3-39A8EAC6682D}"/>
              </a:ext>
            </a:extLst>
          </p:cNvPr>
          <p:cNvSpPr/>
          <p:nvPr/>
        </p:nvSpPr>
        <p:spPr>
          <a:xfrm>
            <a:off x="6914322" y="3273287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6284D4-2FBB-4556-A8F7-D6EFC831157C}"/>
              </a:ext>
            </a:extLst>
          </p:cNvPr>
          <p:cNvSpPr/>
          <p:nvPr/>
        </p:nvSpPr>
        <p:spPr>
          <a:xfrm>
            <a:off x="7742583" y="468133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EBA6E9-DDEE-4DC9-B080-7A972944455C}"/>
              </a:ext>
            </a:extLst>
          </p:cNvPr>
          <p:cNvSpPr/>
          <p:nvPr/>
        </p:nvSpPr>
        <p:spPr>
          <a:xfrm>
            <a:off x="7189305" y="230090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D102CE-E35E-423C-B1A9-25113E4D5D47}"/>
              </a:ext>
            </a:extLst>
          </p:cNvPr>
          <p:cNvSpPr/>
          <p:nvPr/>
        </p:nvSpPr>
        <p:spPr>
          <a:xfrm>
            <a:off x="5582479" y="3841474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987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CCDBAF-EC59-412F-9E62-4B33ABCD3EBB}"/>
              </a:ext>
            </a:extLst>
          </p:cNvPr>
          <p:cNvSpPr/>
          <p:nvPr/>
        </p:nvSpPr>
        <p:spPr>
          <a:xfrm>
            <a:off x="3675821" y="1063487"/>
            <a:ext cx="4840357" cy="473102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BE239-8384-4DC6-BD71-4EAF23268029}"/>
              </a:ext>
            </a:extLst>
          </p:cNvPr>
          <p:cNvSpPr txBox="1"/>
          <p:nvPr/>
        </p:nvSpPr>
        <p:spPr>
          <a:xfrm>
            <a:off x="3013003" y="208506"/>
            <a:ext cx="64177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Stratified Simple Random Sample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7B41-E11A-4478-83AE-6E0AC3C738DE}"/>
              </a:ext>
            </a:extLst>
          </p:cNvPr>
          <p:cNvSpPr txBox="1"/>
          <p:nvPr/>
        </p:nvSpPr>
        <p:spPr>
          <a:xfrm>
            <a:off x="9124122" y="2594113"/>
            <a:ext cx="22896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 the population </a:t>
            </a:r>
          </a:p>
          <a:p>
            <a:r>
              <a:rPr lang="en-US" dirty="0"/>
              <a:t>Into groups (strata);</a:t>
            </a:r>
          </a:p>
          <a:p>
            <a:br>
              <a:rPr lang="en-US" dirty="0"/>
            </a:br>
            <a:r>
              <a:rPr lang="en-US" dirty="0"/>
              <a:t>Take a Simple Random</a:t>
            </a:r>
            <a:br>
              <a:rPr lang="en-US" dirty="0"/>
            </a:br>
            <a:r>
              <a:rPr lang="en-US" dirty="0"/>
              <a:t>Sample from every</a:t>
            </a:r>
          </a:p>
          <a:p>
            <a:r>
              <a:rPr lang="en-US" dirty="0"/>
              <a:t>stratum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1A92CC-C545-415A-9F2F-AC63A414E93F}"/>
              </a:ext>
            </a:extLst>
          </p:cNvPr>
          <p:cNvSpPr/>
          <p:nvPr/>
        </p:nvSpPr>
        <p:spPr>
          <a:xfrm>
            <a:off x="4041912" y="2042492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C9A4DD-B717-4940-97D8-205DED3D342A}"/>
              </a:ext>
            </a:extLst>
          </p:cNvPr>
          <p:cNvSpPr/>
          <p:nvPr/>
        </p:nvSpPr>
        <p:spPr>
          <a:xfrm>
            <a:off x="7338392" y="3878744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BC8452-24EC-401F-8542-9DA35D0753D3}"/>
              </a:ext>
            </a:extLst>
          </p:cNvPr>
          <p:cNvSpPr/>
          <p:nvPr/>
        </p:nvSpPr>
        <p:spPr>
          <a:xfrm>
            <a:off x="8188548" y="3740429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B56438-7619-4432-8837-7B5332C9CF46}"/>
              </a:ext>
            </a:extLst>
          </p:cNvPr>
          <p:cNvSpPr/>
          <p:nvPr/>
        </p:nvSpPr>
        <p:spPr>
          <a:xfrm>
            <a:off x="7369037" y="3248294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864FD0-0693-40D7-BCBD-3E2AD888CAC0}"/>
              </a:ext>
            </a:extLst>
          </p:cNvPr>
          <p:cNvSpPr/>
          <p:nvPr/>
        </p:nvSpPr>
        <p:spPr>
          <a:xfrm>
            <a:off x="5466522" y="508883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2C727C-AFF1-48DA-8D38-39EF9CA4670A}"/>
              </a:ext>
            </a:extLst>
          </p:cNvPr>
          <p:cNvSpPr/>
          <p:nvPr/>
        </p:nvSpPr>
        <p:spPr>
          <a:xfrm>
            <a:off x="6221895" y="3265003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B11FCF-B819-4F19-9795-D49106F62F48}"/>
              </a:ext>
            </a:extLst>
          </p:cNvPr>
          <p:cNvSpPr/>
          <p:nvPr/>
        </p:nvSpPr>
        <p:spPr>
          <a:xfrm>
            <a:off x="4797285" y="2874069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B32B4A-A36C-497E-908D-3855579191EF}"/>
              </a:ext>
            </a:extLst>
          </p:cNvPr>
          <p:cNvSpPr/>
          <p:nvPr/>
        </p:nvSpPr>
        <p:spPr>
          <a:xfrm>
            <a:off x="4714461" y="1792357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816E3A-D139-4824-AF80-296D6A390EF0}"/>
              </a:ext>
            </a:extLst>
          </p:cNvPr>
          <p:cNvSpPr/>
          <p:nvPr/>
        </p:nvSpPr>
        <p:spPr>
          <a:xfrm>
            <a:off x="4151243" y="342900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D8FFDC-DC8E-4475-BFB0-4B201C4CB419}"/>
              </a:ext>
            </a:extLst>
          </p:cNvPr>
          <p:cNvSpPr/>
          <p:nvPr/>
        </p:nvSpPr>
        <p:spPr>
          <a:xfrm>
            <a:off x="6440556" y="460196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2448F1-506F-4DC0-9769-AA552D0D1001}"/>
              </a:ext>
            </a:extLst>
          </p:cNvPr>
          <p:cNvSpPr/>
          <p:nvPr/>
        </p:nvSpPr>
        <p:spPr>
          <a:xfrm>
            <a:off x="6334540" y="1452769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CC6A60-8EE5-491E-90E6-7B6B8C7598C3}"/>
              </a:ext>
            </a:extLst>
          </p:cNvPr>
          <p:cNvSpPr/>
          <p:nvPr/>
        </p:nvSpPr>
        <p:spPr>
          <a:xfrm>
            <a:off x="7828721" y="191162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36E536-4246-43A2-9FD7-5B329C7A5DA0}"/>
              </a:ext>
            </a:extLst>
          </p:cNvPr>
          <p:cNvSpPr/>
          <p:nvPr/>
        </p:nvSpPr>
        <p:spPr>
          <a:xfrm>
            <a:off x="3867977" y="5421872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113CF4-18C5-43ED-AED7-8970DF92EAD6}"/>
              </a:ext>
            </a:extLst>
          </p:cNvPr>
          <p:cNvSpPr/>
          <p:nvPr/>
        </p:nvSpPr>
        <p:spPr>
          <a:xfrm>
            <a:off x="5635487" y="1613523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D2B800-2AC6-4A7F-BDC3-39A8EAC6682D}"/>
              </a:ext>
            </a:extLst>
          </p:cNvPr>
          <p:cNvSpPr/>
          <p:nvPr/>
        </p:nvSpPr>
        <p:spPr>
          <a:xfrm>
            <a:off x="6914322" y="3273287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6284D4-2FBB-4556-A8F7-D6EFC831157C}"/>
              </a:ext>
            </a:extLst>
          </p:cNvPr>
          <p:cNvSpPr/>
          <p:nvPr/>
        </p:nvSpPr>
        <p:spPr>
          <a:xfrm>
            <a:off x="7248939" y="500435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EBA6E9-DDEE-4DC9-B080-7A972944455C}"/>
              </a:ext>
            </a:extLst>
          </p:cNvPr>
          <p:cNvSpPr/>
          <p:nvPr/>
        </p:nvSpPr>
        <p:spPr>
          <a:xfrm>
            <a:off x="7189305" y="230090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D102CE-E35E-423C-B1A9-25113E4D5D47}"/>
              </a:ext>
            </a:extLst>
          </p:cNvPr>
          <p:cNvSpPr/>
          <p:nvPr/>
        </p:nvSpPr>
        <p:spPr>
          <a:xfrm>
            <a:off x="5582479" y="3841474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5BB2FA-5B5E-4088-A2A7-39300A16BAA7}"/>
              </a:ext>
            </a:extLst>
          </p:cNvPr>
          <p:cNvCxnSpPr/>
          <p:nvPr/>
        </p:nvCxnSpPr>
        <p:spPr>
          <a:xfrm>
            <a:off x="3682933" y="2613992"/>
            <a:ext cx="4833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1D88D42-DAEC-4315-924A-359106BD631D}"/>
              </a:ext>
            </a:extLst>
          </p:cNvPr>
          <p:cNvCxnSpPr/>
          <p:nvPr/>
        </p:nvCxnSpPr>
        <p:spPr>
          <a:xfrm>
            <a:off x="3682933" y="4495801"/>
            <a:ext cx="4833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89BE13-C504-46C0-AD3F-0322E06B921E}"/>
              </a:ext>
            </a:extLst>
          </p:cNvPr>
          <p:cNvCxnSpPr>
            <a:cxnSpLocks/>
          </p:cNvCxnSpPr>
          <p:nvPr/>
        </p:nvCxnSpPr>
        <p:spPr>
          <a:xfrm flipV="1">
            <a:off x="6728791" y="2610390"/>
            <a:ext cx="0" cy="18854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B0E129-1426-4423-BC54-71CCADC5C05E}"/>
              </a:ext>
            </a:extLst>
          </p:cNvPr>
          <p:cNvCxnSpPr>
            <a:cxnSpLocks/>
          </p:cNvCxnSpPr>
          <p:nvPr/>
        </p:nvCxnSpPr>
        <p:spPr>
          <a:xfrm flipV="1">
            <a:off x="5267739" y="4495801"/>
            <a:ext cx="0" cy="12987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118370-982E-4DD7-AB1D-962454AFD4F2}"/>
              </a:ext>
            </a:extLst>
          </p:cNvPr>
          <p:cNvCxnSpPr>
            <a:cxnSpLocks/>
          </p:cNvCxnSpPr>
          <p:nvPr/>
        </p:nvCxnSpPr>
        <p:spPr>
          <a:xfrm flipV="1">
            <a:off x="5294244" y="1099786"/>
            <a:ext cx="0" cy="15106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57AE7E3-BC1E-461F-AD37-EF050337AB81}"/>
              </a:ext>
            </a:extLst>
          </p:cNvPr>
          <p:cNvSpPr/>
          <p:nvPr/>
        </p:nvSpPr>
        <p:spPr>
          <a:xfrm>
            <a:off x="4495800" y="499772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371BC5E-7EF6-439A-9D22-3BE6A0656809}"/>
              </a:ext>
            </a:extLst>
          </p:cNvPr>
          <p:cNvSpPr/>
          <p:nvPr/>
        </p:nvSpPr>
        <p:spPr>
          <a:xfrm>
            <a:off x="5771322" y="539363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EC74953-9945-4523-A445-571FC895F2A8}"/>
              </a:ext>
            </a:extLst>
          </p:cNvPr>
          <p:cNvSpPr/>
          <p:nvPr/>
        </p:nvSpPr>
        <p:spPr>
          <a:xfrm>
            <a:off x="5923722" y="554603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41E289A-5982-4D56-A0A8-6BE19959686B}"/>
              </a:ext>
            </a:extLst>
          </p:cNvPr>
          <p:cNvSpPr/>
          <p:nvPr/>
        </p:nvSpPr>
        <p:spPr>
          <a:xfrm>
            <a:off x="4846983" y="5355607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073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CCDBAF-EC59-412F-9E62-4B33ABCD3EBB}"/>
              </a:ext>
            </a:extLst>
          </p:cNvPr>
          <p:cNvSpPr/>
          <p:nvPr/>
        </p:nvSpPr>
        <p:spPr>
          <a:xfrm>
            <a:off x="3675821" y="1063487"/>
            <a:ext cx="4840357" cy="473102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BE239-8384-4DC6-BD71-4EAF23268029}"/>
              </a:ext>
            </a:extLst>
          </p:cNvPr>
          <p:cNvSpPr txBox="1"/>
          <p:nvPr/>
        </p:nvSpPr>
        <p:spPr>
          <a:xfrm>
            <a:off x="3605506" y="228275"/>
            <a:ext cx="4988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One-stage Cluster Sample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7B41-E11A-4478-83AE-6E0AC3C738DE}"/>
              </a:ext>
            </a:extLst>
          </p:cNvPr>
          <p:cNvSpPr txBox="1"/>
          <p:nvPr/>
        </p:nvSpPr>
        <p:spPr>
          <a:xfrm>
            <a:off x="9124122" y="2594113"/>
            <a:ext cx="228960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 the population </a:t>
            </a:r>
          </a:p>
          <a:p>
            <a:r>
              <a:rPr lang="en-US" dirty="0"/>
              <a:t>into groups (clusters);</a:t>
            </a:r>
          </a:p>
          <a:p>
            <a:br>
              <a:rPr lang="en-US" dirty="0"/>
            </a:br>
            <a:r>
              <a:rPr lang="en-US" dirty="0"/>
              <a:t>Take a Simple Random</a:t>
            </a:r>
            <a:br>
              <a:rPr lang="en-US" dirty="0"/>
            </a:br>
            <a:r>
              <a:rPr lang="en-US" dirty="0"/>
              <a:t>Sample of clusters,</a:t>
            </a:r>
          </a:p>
          <a:p>
            <a:br>
              <a:rPr lang="en-US"/>
            </a:br>
            <a:r>
              <a:rPr lang="en-US"/>
              <a:t>and </a:t>
            </a:r>
            <a:r>
              <a:rPr lang="en-US" dirty="0"/>
              <a:t>then a census of</a:t>
            </a:r>
          </a:p>
          <a:p>
            <a:r>
              <a:rPr lang="en-US" dirty="0"/>
              <a:t>units in each selected</a:t>
            </a:r>
          </a:p>
          <a:p>
            <a:r>
              <a:rPr lang="en-US" dirty="0"/>
              <a:t>cluster</a:t>
            </a:r>
            <a:endParaRPr lang="en-GB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5BB2FA-5B5E-4088-A2A7-39300A16BAA7}"/>
              </a:ext>
            </a:extLst>
          </p:cNvPr>
          <p:cNvCxnSpPr/>
          <p:nvPr/>
        </p:nvCxnSpPr>
        <p:spPr>
          <a:xfrm>
            <a:off x="3682933" y="2613992"/>
            <a:ext cx="4833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1D88D42-DAEC-4315-924A-359106BD631D}"/>
              </a:ext>
            </a:extLst>
          </p:cNvPr>
          <p:cNvCxnSpPr/>
          <p:nvPr/>
        </p:nvCxnSpPr>
        <p:spPr>
          <a:xfrm>
            <a:off x="3682933" y="4495801"/>
            <a:ext cx="4833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89BE13-C504-46C0-AD3F-0322E06B921E}"/>
              </a:ext>
            </a:extLst>
          </p:cNvPr>
          <p:cNvCxnSpPr>
            <a:cxnSpLocks/>
          </p:cNvCxnSpPr>
          <p:nvPr/>
        </p:nvCxnSpPr>
        <p:spPr>
          <a:xfrm flipV="1">
            <a:off x="6728791" y="2610390"/>
            <a:ext cx="0" cy="18854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B0E129-1426-4423-BC54-71CCADC5C05E}"/>
              </a:ext>
            </a:extLst>
          </p:cNvPr>
          <p:cNvCxnSpPr>
            <a:cxnSpLocks/>
          </p:cNvCxnSpPr>
          <p:nvPr/>
        </p:nvCxnSpPr>
        <p:spPr>
          <a:xfrm flipV="1">
            <a:off x="5267739" y="4495801"/>
            <a:ext cx="0" cy="12987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118370-982E-4DD7-AB1D-962454AFD4F2}"/>
              </a:ext>
            </a:extLst>
          </p:cNvPr>
          <p:cNvCxnSpPr>
            <a:cxnSpLocks/>
          </p:cNvCxnSpPr>
          <p:nvPr/>
        </p:nvCxnSpPr>
        <p:spPr>
          <a:xfrm flipV="1">
            <a:off x="5294244" y="1099786"/>
            <a:ext cx="0" cy="15106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2D395CBA-D9E3-4827-B0C3-57BAE89730CE}"/>
              </a:ext>
            </a:extLst>
          </p:cNvPr>
          <p:cNvSpPr/>
          <p:nvPr/>
        </p:nvSpPr>
        <p:spPr>
          <a:xfrm>
            <a:off x="5294244" y="1063487"/>
            <a:ext cx="3221933" cy="15541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F161B31-DE32-42DA-AD27-D89915F721C0}"/>
              </a:ext>
            </a:extLst>
          </p:cNvPr>
          <p:cNvSpPr/>
          <p:nvPr/>
        </p:nvSpPr>
        <p:spPr>
          <a:xfrm>
            <a:off x="3682932" y="2610390"/>
            <a:ext cx="3045849" cy="18782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A8B4E5-C6A0-428D-BAF2-B06C6ED5C0EC}"/>
              </a:ext>
            </a:extLst>
          </p:cNvPr>
          <p:cNvSpPr/>
          <p:nvPr/>
        </p:nvSpPr>
        <p:spPr>
          <a:xfrm>
            <a:off x="5257809" y="4495800"/>
            <a:ext cx="3258364" cy="12987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616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CCDBAF-EC59-412F-9E62-4B33ABCD3EBB}"/>
              </a:ext>
            </a:extLst>
          </p:cNvPr>
          <p:cNvSpPr/>
          <p:nvPr/>
        </p:nvSpPr>
        <p:spPr>
          <a:xfrm>
            <a:off x="3675821" y="1063487"/>
            <a:ext cx="4840357" cy="4731026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5BE239-8384-4DC6-BD71-4EAF23268029}"/>
              </a:ext>
            </a:extLst>
          </p:cNvPr>
          <p:cNvSpPr txBox="1"/>
          <p:nvPr/>
        </p:nvSpPr>
        <p:spPr>
          <a:xfrm>
            <a:off x="3675821" y="221546"/>
            <a:ext cx="4984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Two Stage Cluster Sample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7A7B41-E11A-4478-83AE-6E0AC3C738DE}"/>
              </a:ext>
            </a:extLst>
          </p:cNvPr>
          <p:cNvSpPr txBox="1"/>
          <p:nvPr/>
        </p:nvSpPr>
        <p:spPr>
          <a:xfrm>
            <a:off x="9124122" y="2594113"/>
            <a:ext cx="22896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Break the population </a:t>
            </a:r>
          </a:p>
          <a:p>
            <a:r>
              <a:rPr lang="en-US" dirty="0"/>
              <a:t>Into groups (clusters);</a:t>
            </a:r>
          </a:p>
          <a:p>
            <a:br>
              <a:rPr lang="en-US" dirty="0"/>
            </a:br>
            <a:r>
              <a:rPr lang="en-US" dirty="0"/>
              <a:t>Take a Simple Random</a:t>
            </a:r>
            <a:br>
              <a:rPr lang="en-US" dirty="0"/>
            </a:br>
            <a:r>
              <a:rPr lang="en-US" dirty="0"/>
              <a:t>Sample of clusters,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and then a Simple</a:t>
            </a:r>
            <a:br>
              <a:rPr lang="en-US" dirty="0"/>
            </a:br>
            <a:r>
              <a:rPr lang="en-US" dirty="0"/>
              <a:t>Random Sample of </a:t>
            </a:r>
            <a:br>
              <a:rPr lang="en-US" dirty="0"/>
            </a:br>
            <a:r>
              <a:rPr lang="en-US" dirty="0"/>
              <a:t>units within each </a:t>
            </a:r>
            <a:br>
              <a:rPr lang="en-US" dirty="0"/>
            </a:br>
            <a:r>
              <a:rPr lang="en-US" dirty="0"/>
              <a:t>selected cluster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B1A92CC-C545-415A-9F2F-AC63A414E93F}"/>
              </a:ext>
            </a:extLst>
          </p:cNvPr>
          <p:cNvSpPr/>
          <p:nvPr/>
        </p:nvSpPr>
        <p:spPr>
          <a:xfrm>
            <a:off x="4966250" y="3640246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C9A4DD-B717-4940-97D8-205DED3D342A}"/>
              </a:ext>
            </a:extLst>
          </p:cNvPr>
          <p:cNvSpPr/>
          <p:nvPr/>
        </p:nvSpPr>
        <p:spPr>
          <a:xfrm>
            <a:off x="6863799" y="163981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BC8452-24EC-401F-8542-9DA35D0753D3}"/>
              </a:ext>
            </a:extLst>
          </p:cNvPr>
          <p:cNvSpPr/>
          <p:nvPr/>
        </p:nvSpPr>
        <p:spPr>
          <a:xfrm>
            <a:off x="8148791" y="126875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7B56438-7619-4432-8837-7B5332C9CF46}"/>
              </a:ext>
            </a:extLst>
          </p:cNvPr>
          <p:cNvSpPr/>
          <p:nvPr/>
        </p:nvSpPr>
        <p:spPr>
          <a:xfrm>
            <a:off x="6019800" y="2809606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864FD0-0693-40D7-BCBD-3E2AD888CAC0}"/>
              </a:ext>
            </a:extLst>
          </p:cNvPr>
          <p:cNvSpPr/>
          <p:nvPr/>
        </p:nvSpPr>
        <p:spPr>
          <a:xfrm>
            <a:off x="5466522" y="508883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2C727C-AFF1-48DA-8D38-39EF9CA4670A}"/>
              </a:ext>
            </a:extLst>
          </p:cNvPr>
          <p:cNvSpPr/>
          <p:nvPr/>
        </p:nvSpPr>
        <p:spPr>
          <a:xfrm>
            <a:off x="6221895" y="3265003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B11FCF-B819-4F19-9795-D49106F62F48}"/>
              </a:ext>
            </a:extLst>
          </p:cNvPr>
          <p:cNvSpPr/>
          <p:nvPr/>
        </p:nvSpPr>
        <p:spPr>
          <a:xfrm>
            <a:off x="4797285" y="2874069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B32B4A-A36C-497E-908D-3855579191EF}"/>
              </a:ext>
            </a:extLst>
          </p:cNvPr>
          <p:cNvSpPr/>
          <p:nvPr/>
        </p:nvSpPr>
        <p:spPr>
          <a:xfrm>
            <a:off x="5648739" y="325506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816E3A-D139-4824-AF80-296D6A390EF0}"/>
              </a:ext>
            </a:extLst>
          </p:cNvPr>
          <p:cNvSpPr/>
          <p:nvPr/>
        </p:nvSpPr>
        <p:spPr>
          <a:xfrm>
            <a:off x="4151243" y="342900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D8FFDC-DC8E-4475-BFB0-4B201C4CB419}"/>
              </a:ext>
            </a:extLst>
          </p:cNvPr>
          <p:cNvSpPr/>
          <p:nvPr/>
        </p:nvSpPr>
        <p:spPr>
          <a:xfrm>
            <a:off x="6440556" y="4601960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2448F1-506F-4DC0-9769-AA552D0D1001}"/>
              </a:ext>
            </a:extLst>
          </p:cNvPr>
          <p:cNvSpPr/>
          <p:nvPr/>
        </p:nvSpPr>
        <p:spPr>
          <a:xfrm>
            <a:off x="6334540" y="1452769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CC6A60-8EE5-491E-90E6-7B6B8C7598C3}"/>
              </a:ext>
            </a:extLst>
          </p:cNvPr>
          <p:cNvSpPr/>
          <p:nvPr/>
        </p:nvSpPr>
        <p:spPr>
          <a:xfrm>
            <a:off x="7828721" y="191162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836E536-4246-43A2-9FD7-5B329C7A5DA0}"/>
              </a:ext>
            </a:extLst>
          </p:cNvPr>
          <p:cNvSpPr/>
          <p:nvPr/>
        </p:nvSpPr>
        <p:spPr>
          <a:xfrm>
            <a:off x="4526445" y="3107636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113CF4-18C5-43ED-AED7-8970DF92EAD6}"/>
              </a:ext>
            </a:extLst>
          </p:cNvPr>
          <p:cNvSpPr/>
          <p:nvPr/>
        </p:nvSpPr>
        <p:spPr>
          <a:xfrm>
            <a:off x="5635487" y="1613523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4D2B800-2AC6-4A7F-BDC3-39A8EAC6682D}"/>
              </a:ext>
            </a:extLst>
          </p:cNvPr>
          <p:cNvSpPr/>
          <p:nvPr/>
        </p:nvSpPr>
        <p:spPr>
          <a:xfrm>
            <a:off x="6221895" y="2178326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86284D4-2FBB-4556-A8F7-D6EFC831157C}"/>
              </a:ext>
            </a:extLst>
          </p:cNvPr>
          <p:cNvSpPr/>
          <p:nvPr/>
        </p:nvSpPr>
        <p:spPr>
          <a:xfrm>
            <a:off x="7248939" y="5004355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EBA6E9-DDEE-4DC9-B080-7A972944455C}"/>
              </a:ext>
            </a:extLst>
          </p:cNvPr>
          <p:cNvSpPr/>
          <p:nvPr/>
        </p:nvSpPr>
        <p:spPr>
          <a:xfrm>
            <a:off x="7189305" y="230090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D102CE-E35E-423C-B1A9-25113E4D5D47}"/>
              </a:ext>
            </a:extLst>
          </p:cNvPr>
          <p:cNvSpPr/>
          <p:nvPr/>
        </p:nvSpPr>
        <p:spPr>
          <a:xfrm>
            <a:off x="5582479" y="3841474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5BB2FA-5B5E-4088-A2A7-39300A16BAA7}"/>
              </a:ext>
            </a:extLst>
          </p:cNvPr>
          <p:cNvCxnSpPr/>
          <p:nvPr/>
        </p:nvCxnSpPr>
        <p:spPr>
          <a:xfrm>
            <a:off x="3682933" y="2613992"/>
            <a:ext cx="4833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1D88D42-DAEC-4315-924A-359106BD631D}"/>
              </a:ext>
            </a:extLst>
          </p:cNvPr>
          <p:cNvCxnSpPr/>
          <p:nvPr/>
        </p:nvCxnSpPr>
        <p:spPr>
          <a:xfrm>
            <a:off x="3682933" y="4495801"/>
            <a:ext cx="483324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89BE13-C504-46C0-AD3F-0322E06B921E}"/>
              </a:ext>
            </a:extLst>
          </p:cNvPr>
          <p:cNvCxnSpPr>
            <a:cxnSpLocks/>
          </p:cNvCxnSpPr>
          <p:nvPr/>
        </p:nvCxnSpPr>
        <p:spPr>
          <a:xfrm flipV="1">
            <a:off x="6728791" y="2610390"/>
            <a:ext cx="0" cy="18854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B0E129-1426-4423-BC54-71CCADC5C05E}"/>
              </a:ext>
            </a:extLst>
          </p:cNvPr>
          <p:cNvCxnSpPr>
            <a:cxnSpLocks/>
          </p:cNvCxnSpPr>
          <p:nvPr/>
        </p:nvCxnSpPr>
        <p:spPr>
          <a:xfrm flipV="1">
            <a:off x="5267739" y="4495801"/>
            <a:ext cx="0" cy="129871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118370-982E-4DD7-AB1D-962454AFD4F2}"/>
              </a:ext>
            </a:extLst>
          </p:cNvPr>
          <p:cNvCxnSpPr>
            <a:cxnSpLocks/>
          </p:cNvCxnSpPr>
          <p:nvPr/>
        </p:nvCxnSpPr>
        <p:spPr>
          <a:xfrm flipV="1">
            <a:off x="5294244" y="1099786"/>
            <a:ext cx="0" cy="151060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57AE7E3-BC1E-461F-AD37-EF050337AB81}"/>
              </a:ext>
            </a:extLst>
          </p:cNvPr>
          <p:cNvSpPr/>
          <p:nvPr/>
        </p:nvSpPr>
        <p:spPr>
          <a:xfrm>
            <a:off x="4328490" y="4186033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371BC5E-7EF6-439A-9D22-3BE6A0656809}"/>
              </a:ext>
            </a:extLst>
          </p:cNvPr>
          <p:cNvSpPr/>
          <p:nvPr/>
        </p:nvSpPr>
        <p:spPr>
          <a:xfrm>
            <a:off x="5771322" y="539363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EC74953-9945-4523-A445-571FC895F2A8}"/>
              </a:ext>
            </a:extLst>
          </p:cNvPr>
          <p:cNvSpPr/>
          <p:nvPr/>
        </p:nvSpPr>
        <p:spPr>
          <a:xfrm>
            <a:off x="5923722" y="5546038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41E289A-5982-4D56-A0A8-6BE19959686B}"/>
              </a:ext>
            </a:extLst>
          </p:cNvPr>
          <p:cNvSpPr/>
          <p:nvPr/>
        </p:nvSpPr>
        <p:spPr>
          <a:xfrm>
            <a:off x="6775175" y="5158481"/>
            <a:ext cx="168965" cy="1689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075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8A9C7A-3AB1-45DA-8684-273E47675F5F}"/>
              </a:ext>
            </a:extLst>
          </p:cNvPr>
          <p:cNvSpPr/>
          <p:nvPr/>
        </p:nvSpPr>
        <p:spPr>
          <a:xfrm>
            <a:off x="5029200" y="0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Objectives</a:t>
            </a:r>
            <a:br>
              <a:rPr lang="en-US" sz="1200" dirty="0"/>
            </a:br>
            <a:r>
              <a:rPr lang="en-US" sz="1200" dirty="0"/>
              <a:t>Target Population</a:t>
            </a:r>
            <a:endParaRPr lang="en-NZ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882CD0-261C-4F5B-8E99-7698F79B6661}"/>
              </a:ext>
            </a:extLst>
          </p:cNvPr>
          <p:cNvSpPr/>
          <p:nvPr/>
        </p:nvSpPr>
        <p:spPr>
          <a:xfrm>
            <a:off x="5029200" y="3387212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Collect data </a:t>
            </a:r>
            <a:br>
              <a:rPr lang="en-US" sz="1200" dirty="0"/>
            </a:br>
            <a:r>
              <a:rPr lang="en-US" sz="1200" dirty="0"/>
              <a:t>from sample members</a:t>
            </a:r>
            <a:endParaRPr lang="en-NZ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6A9A1F-BC2A-42B1-BB6F-0334FB111C71}"/>
              </a:ext>
            </a:extLst>
          </p:cNvPr>
          <p:cNvSpPr/>
          <p:nvPr/>
        </p:nvSpPr>
        <p:spPr>
          <a:xfrm>
            <a:off x="5029200" y="4138151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Capture, code, edit data</a:t>
            </a:r>
            <a:endParaRPr lang="en-NZ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2BCFA6-0CDB-4CB5-9C36-A83B790CA52A}"/>
              </a:ext>
            </a:extLst>
          </p:cNvPr>
          <p:cNvSpPr/>
          <p:nvPr/>
        </p:nvSpPr>
        <p:spPr>
          <a:xfrm>
            <a:off x="5029200" y="4889090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Calculate weights</a:t>
            </a:r>
            <a:br>
              <a:rPr lang="en-US" sz="1200" dirty="0"/>
            </a:br>
            <a:r>
              <a:rPr lang="en-US" sz="1200" dirty="0"/>
              <a:t>Post-survey adjustments</a:t>
            </a:r>
            <a:endParaRPr lang="en-NZ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BE455-3B5F-4FA8-9BD2-E6BA385A3531}"/>
              </a:ext>
            </a:extLst>
          </p:cNvPr>
          <p:cNvSpPr/>
          <p:nvPr/>
        </p:nvSpPr>
        <p:spPr>
          <a:xfrm>
            <a:off x="5029200" y="5640029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Create estimates</a:t>
            </a:r>
            <a:br>
              <a:rPr lang="en-US" sz="1200" dirty="0"/>
            </a:br>
            <a:r>
              <a:rPr lang="en-US" sz="1200" dirty="0"/>
              <a:t>and perform analyses</a:t>
            </a:r>
            <a:endParaRPr lang="en-NZ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88D2F-6E90-4B80-803C-D8A93A7248DB}"/>
              </a:ext>
            </a:extLst>
          </p:cNvPr>
          <p:cNvSpPr/>
          <p:nvPr/>
        </p:nvSpPr>
        <p:spPr>
          <a:xfrm>
            <a:off x="7467600" y="2541639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Contact Sample</a:t>
            </a:r>
            <a:endParaRPr lang="en-NZ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DC44F5-F158-41AA-AD88-72F0C1107E9A}"/>
              </a:ext>
            </a:extLst>
          </p:cNvPr>
          <p:cNvSpPr/>
          <p:nvPr/>
        </p:nvSpPr>
        <p:spPr>
          <a:xfrm>
            <a:off x="7467600" y="703005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Survey Population</a:t>
            </a:r>
            <a:br>
              <a:rPr lang="en-US" sz="1200" dirty="0"/>
            </a:br>
            <a:r>
              <a:rPr lang="en-US" sz="1200" dirty="0"/>
              <a:t>Sample Frame</a:t>
            </a:r>
            <a:endParaRPr lang="en-NZ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6468BB-F767-4202-9A46-EB162815CD76}"/>
              </a:ext>
            </a:extLst>
          </p:cNvPr>
          <p:cNvSpPr/>
          <p:nvPr/>
        </p:nvSpPr>
        <p:spPr>
          <a:xfrm>
            <a:off x="7467600" y="1622322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Sample Design</a:t>
            </a:r>
            <a:br>
              <a:rPr lang="en-US" sz="1200" dirty="0"/>
            </a:br>
            <a:r>
              <a:rPr lang="en-US" sz="1200" dirty="0"/>
              <a:t>Select Sample</a:t>
            </a:r>
            <a:endParaRPr lang="en-NZ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81E86E-D5EE-41A0-BF2D-1900D452BEDB}"/>
              </a:ext>
            </a:extLst>
          </p:cNvPr>
          <p:cNvSpPr/>
          <p:nvPr/>
        </p:nvSpPr>
        <p:spPr>
          <a:xfrm>
            <a:off x="2590801" y="1622322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Design survey instrument</a:t>
            </a:r>
            <a:endParaRPr lang="en-NZ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49512-172A-44E2-8B1D-FCA17CAA7C86}"/>
              </a:ext>
            </a:extLst>
          </p:cNvPr>
          <p:cNvSpPr/>
          <p:nvPr/>
        </p:nvSpPr>
        <p:spPr>
          <a:xfrm>
            <a:off x="5029200" y="6390968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Report and Evaluate</a:t>
            </a:r>
            <a:endParaRPr lang="en-NZ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D765D5-EF5C-473C-8494-7B0FD3474BAD}"/>
              </a:ext>
            </a:extLst>
          </p:cNvPr>
          <p:cNvCxnSpPr>
            <a:stCxn id="2" idx="2"/>
            <a:endCxn id="10" idx="0"/>
          </p:cNvCxnSpPr>
          <p:nvPr/>
        </p:nvCxnSpPr>
        <p:spPr>
          <a:xfrm flipH="1">
            <a:off x="3657601" y="471948"/>
            <a:ext cx="2438399" cy="115037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9DF954-FDBF-4BCA-8957-4819864B8140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6096000" y="471948"/>
            <a:ext cx="2438400" cy="23105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37C3D4-34EF-42F7-805D-832AAF4736F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534400" y="1174953"/>
            <a:ext cx="0" cy="447369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B83AE9-5BBB-4DF4-A469-D25EF0C55832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>
            <a:off x="8534400" y="2094270"/>
            <a:ext cx="0" cy="447369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589EFA-F8DB-482E-AD0E-55C5B55DA232}"/>
              </a:ext>
            </a:extLst>
          </p:cNvPr>
          <p:cNvCxnSpPr>
            <a:cxnSpLocks/>
            <a:stCxn id="10" idx="2"/>
            <a:endCxn id="3" idx="0"/>
          </p:cNvCxnSpPr>
          <p:nvPr/>
        </p:nvCxnSpPr>
        <p:spPr>
          <a:xfrm>
            <a:off x="3657601" y="2094270"/>
            <a:ext cx="2438399" cy="129294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66661F-CC3D-4288-82F7-DC344DF397DF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6096000" y="3013587"/>
            <a:ext cx="2438400" cy="373625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4D290E-4A3D-43F5-AB7D-673715EC938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096000" y="3859160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AABE33-B4A4-4C2C-8C4B-DF83D287950A}"/>
              </a:ext>
            </a:extLst>
          </p:cNvPr>
          <p:cNvCxnSpPr>
            <a:cxnSpLocks/>
          </p:cNvCxnSpPr>
          <p:nvPr/>
        </p:nvCxnSpPr>
        <p:spPr>
          <a:xfrm>
            <a:off x="6081252" y="4595351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95498A-EE99-4590-81F8-67DD9C505955}"/>
              </a:ext>
            </a:extLst>
          </p:cNvPr>
          <p:cNvCxnSpPr>
            <a:cxnSpLocks/>
          </p:cNvCxnSpPr>
          <p:nvPr/>
        </p:nvCxnSpPr>
        <p:spPr>
          <a:xfrm>
            <a:off x="6081252" y="5361038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8C077D-22F6-460C-8784-70B5028DD60B}"/>
              </a:ext>
            </a:extLst>
          </p:cNvPr>
          <p:cNvCxnSpPr>
            <a:cxnSpLocks/>
          </p:cNvCxnSpPr>
          <p:nvPr/>
        </p:nvCxnSpPr>
        <p:spPr>
          <a:xfrm>
            <a:off x="6081252" y="6111977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7DD5C1C-F653-4E43-B368-5B1DAD1CAECE}"/>
              </a:ext>
            </a:extLst>
          </p:cNvPr>
          <p:cNvSpPr txBox="1"/>
          <p:nvPr/>
        </p:nvSpPr>
        <p:spPr>
          <a:xfrm>
            <a:off x="9700591" y="703005"/>
            <a:ext cx="12722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Coverage error</a:t>
            </a:r>
            <a:br>
              <a:rPr lang="en-US" sz="1400" dirty="0"/>
            </a:br>
            <a:r>
              <a:rPr lang="en-US" sz="1400" dirty="0"/>
              <a:t>Frame Bias</a:t>
            </a:r>
            <a:endParaRPr lang="en-NZ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A58392-0EF1-4272-A797-97C2620E595A}"/>
              </a:ext>
            </a:extLst>
          </p:cNvPr>
          <p:cNvSpPr txBox="1"/>
          <p:nvPr/>
        </p:nvSpPr>
        <p:spPr>
          <a:xfrm>
            <a:off x="9700591" y="1506258"/>
            <a:ext cx="181447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Sampling Error</a:t>
            </a:r>
            <a:br>
              <a:rPr lang="en-US" sz="1400" dirty="0"/>
            </a:br>
            <a:r>
              <a:rPr lang="en-US" sz="1400" dirty="0"/>
              <a:t>Selection Bias</a:t>
            </a:r>
            <a:br>
              <a:rPr lang="en-US" sz="1400" dirty="0"/>
            </a:br>
            <a:r>
              <a:rPr lang="en-US" sz="1400" dirty="0"/>
              <a:t>Non-random selection</a:t>
            </a:r>
            <a:endParaRPr lang="en-NZ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F2DE0C-35B2-45A7-B957-B6FE20B6D3D8}"/>
              </a:ext>
            </a:extLst>
          </p:cNvPr>
          <p:cNvSpPr txBox="1"/>
          <p:nvPr/>
        </p:nvSpPr>
        <p:spPr>
          <a:xfrm>
            <a:off x="9700591" y="2541639"/>
            <a:ext cx="14855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Noncontact/</a:t>
            </a:r>
            <a:br>
              <a:rPr lang="en-US" sz="1400" dirty="0"/>
            </a:br>
            <a:r>
              <a:rPr lang="en-US" sz="1400" dirty="0"/>
              <a:t>Unit nonresponse</a:t>
            </a:r>
            <a:endParaRPr lang="en-NZ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C755D0-9598-4A19-A617-0DBEBF1ABE68}"/>
              </a:ext>
            </a:extLst>
          </p:cNvPr>
          <p:cNvSpPr txBox="1"/>
          <p:nvPr/>
        </p:nvSpPr>
        <p:spPr>
          <a:xfrm>
            <a:off x="4876800" y="1431994"/>
            <a:ext cx="172303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Validity</a:t>
            </a:r>
            <a:br>
              <a:rPr lang="en-US" sz="1400" dirty="0"/>
            </a:br>
            <a:r>
              <a:rPr lang="en-US" sz="1400" dirty="0"/>
              <a:t>Reliability</a:t>
            </a:r>
            <a:br>
              <a:rPr lang="en-US" sz="1400" dirty="0"/>
            </a:br>
            <a:r>
              <a:rPr lang="en-US" sz="1400" dirty="0"/>
              <a:t>(measurement error)</a:t>
            </a:r>
            <a:br>
              <a:rPr lang="en-US" sz="1400" dirty="0"/>
            </a:br>
            <a:r>
              <a:rPr lang="en-US" sz="1400" dirty="0"/>
              <a:t>Recall Bias</a:t>
            </a:r>
            <a:endParaRPr lang="en-NZ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5D6C8A-2C25-4562-8EFF-371CEA7423B9}"/>
              </a:ext>
            </a:extLst>
          </p:cNvPr>
          <p:cNvSpPr txBox="1"/>
          <p:nvPr/>
        </p:nvSpPr>
        <p:spPr>
          <a:xfrm>
            <a:off x="7344696" y="3313544"/>
            <a:ext cx="143571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Interviewer error</a:t>
            </a:r>
            <a:br>
              <a:rPr lang="en-US" sz="1400" dirty="0"/>
            </a:br>
            <a:r>
              <a:rPr lang="en-US" sz="1400" dirty="0"/>
              <a:t>False response</a:t>
            </a:r>
            <a:br>
              <a:rPr lang="en-US" sz="1400" dirty="0"/>
            </a:br>
            <a:r>
              <a:rPr lang="en-US" sz="1400" dirty="0"/>
              <a:t>Mode effect</a:t>
            </a:r>
            <a:endParaRPr lang="en-NZ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9A15194-6613-454A-8CEE-E4665703A86C}"/>
              </a:ext>
            </a:extLst>
          </p:cNvPr>
          <p:cNvSpPr txBox="1"/>
          <p:nvPr/>
        </p:nvSpPr>
        <p:spPr>
          <a:xfrm>
            <a:off x="8928962" y="3488340"/>
            <a:ext cx="2316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Item non-response</a:t>
            </a:r>
            <a:br>
              <a:rPr lang="en-US" sz="1400" dirty="0"/>
            </a:br>
            <a:r>
              <a:rPr lang="en-US" sz="1400" dirty="0"/>
              <a:t>Current events/survey timing</a:t>
            </a:r>
            <a:endParaRPr lang="en-NZ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65C7FE-E2E8-4503-95B1-82085C8AA30E}"/>
              </a:ext>
            </a:extLst>
          </p:cNvPr>
          <p:cNvSpPr txBox="1"/>
          <p:nvPr/>
        </p:nvSpPr>
        <p:spPr>
          <a:xfrm>
            <a:off x="7375260" y="4138151"/>
            <a:ext cx="1762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Processing errors</a:t>
            </a:r>
            <a:br>
              <a:rPr lang="en-US" sz="1400" dirty="0"/>
            </a:br>
            <a:r>
              <a:rPr lang="en-US" sz="1400" dirty="0"/>
              <a:t>Coding, editing errors</a:t>
            </a:r>
            <a:endParaRPr lang="en-NZ" sz="14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5924FC-22F4-4410-83C1-72BC20CC0E8D}"/>
              </a:ext>
            </a:extLst>
          </p:cNvPr>
          <p:cNvSpPr txBox="1"/>
          <p:nvPr/>
        </p:nvSpPr>
        <p:spPr>
          <a:xfrm>
            <a:off x="7344696" y="5631775"/>
            <a:ext cx="3548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Model error/misspecification</a:t>
            </a:r>
            <a:br>
              <a:rPr lang="en-US" sz="1400" dirty="0"/>
            </a:br>
            <a:r>
              <a:rPr lang="en-US" sz="1400" dirty="0"/>
              <a:t>Incorrect treatment of complex sample design</a:t>
            </a:r>
            <a:endParaRPr lang="en-NZ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A2B090-1D73-45C8-ACDE-001074BBD508}"/>
              </a:ext>
            </a:extLst>
          </p:cNvPr>
          <p:cNvSpPr txBox="1"/>
          <p:nvPr/>
        </p:nvSpPr>
        <p:spPr>
          <a:xfrm>
            <a:off x="7375260" y="4902699"/>
            <a:ext cx="2387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Adjustment errors</a:t>
            </a:r>
            <a:br>
              <a:rPr lang="en-US" sz="1400" dirty="0"/>
            </a:br>
            <a:r>
              <a:rPr lang="en-US" sz="1400" dirty="0"/>
              <a:t>Incorrect non-response model</a:t>
            </a:r>
            <a:endParaRPr lang="en-NZ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A96E19-6CE1-4DE8-B5B7-8F8AF97ED0C3}"/>
              </a:ext>
            </a:extLst>
          </p:cNvPr>
          <p:cNvSpPr txBox="1"/>
          <p:nvPr/>
        </p:nvSpPr>
        <p:spPr>
          <a:xfrm>
            <a:off x="7344696" y="6473053"/>
            <a:ext cx="2623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Incorrect interpretation of results</a:t>
            </a:r>
            <a:endParaRPr lang="en-NZ" sz="1400" dirty="0"/>
          </a:p>
        </p:txBody>
      </p:sp>
    </p:spTree>
    <p:extLst>
      <p:ext uri="{BB962C8B-B14F-4D97-AF65-F5344CB8AC3E}">
        <p14:creationId xmlns:p14="http://schemas.microsoft.com/office/powerpoint/2010/main" val="313730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8A9C7A-3AB1-45DA-8684-273E47675F5F}"/>
              </a:ext>
            </a:extLst>
          </p:cNvPr>
          <p:cNvSpPr/>
          <p:nvPr/>
        </p:nvSpPr>
        <p:spPr>
          <a:xfrm>
            <a:off x="5029200" y="0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Objectives</a:t>
            </a:r>
            <a:br>
              <a:rPr lang="en-US" sz="1200" dirty="0"/>
            </a:br>
            <a:r>
              <a:rPr lang="en-US" sz="1200" dirty="0"/>
              <a:t>Target Population</a:t>
            </a:r>
            <a:endParaRPr lang="en-NZ" sz="1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882CD0-261C-4F5B-8E99-7698F79B6661}"/>
              </a:ext>
            </a:extLst>
          </p:cNvPr>
          <p:cNvSpPr/>
          <p:nvPr/>
        </p:nvSpPr>
        <p:spPr>
          <a:xfrm>
            <a:off x="5029200" y="3387212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Collect data </a:t>
            </a:r>
            <a:br>
              <a:rPr lang="en-US" sz="1200" dirty="0"/>
            </a:br>
            <a:r>
              <a:rPr lang="en-US" sz="1200" dirty="0"/>
              <a:t>from sample members</a:t>
            </a:r>
            <a:endParaRPr lang="en-NZ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6A9A1F-BC2A-42B1-BB6F-0334FB111C71}"/>
              </a:ext>
            </a:extLst>
          </p:cNvPr>
          <p:cNvSpPr/>
          <p:nvPr/>
        </p:nvSpPr>
        <p:spPr>
          <a:xfrm>
            <a:off x="5029200" y="4138151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Capture, code, edit data</a:t>
            </a:r>
            <a:endParaRPr lang="en-NZ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2BCFA6-0CDB-4CB5-9C36-A83B790CA52A}"/>
              </a:ext>
            </a:extLst>
          </p:cNvPr>
          <p:cNvSpPr/>
          <p:nvPr/>
        </p:nvSpPr>
        <p:spPr>
          <a:xfrm>
            <a:off x="5029200" y="4889090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Calculate weights</a:t>
            </a:r>
            <a:br>
              <a:rPr lang="en-US" sz="1200" dirty="0"/>
            </a:br>
            <a:r>
              <a:rPr lang="en-US" sz="1200" dirty="0"/>
              <a:t>Post-survey adjustments</a:t>
            </a:r>
            <a:endParaRPr lang="en-NZ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BE455-3B5F-4FA8-9BD2-E6BA385A3531}"/>
              </a:ext>
            </a:extLst>
          </p:cNvPr>
          <p:cNvSpPr/>
          <p:nvPr/>
        </p:nvSpPr>
        <p:spPr>
          <a:xfrm>
            <a:off x="5029200" y="5640029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Create estimates</a:t>
            </a:r>
            <a:br>
              <a:rPr lang="en-US" sz="1200" dirty="0"/>
            </a:br>
            <a:r>
              <a:rPr lang="en-US" sz="1200" dirty="0"/>
              <a:t>and perform analyses</a:t>
            </a:r>
            <a:endParaRPr lang="en-NZ" sz="1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88D2F-6E90-4B80-803C-D8A93A7248DB}"/>
              </a:ext>
            </a:extLst>
          </p:cNvPr>
          <p:cNvSpPr/>
          <p:nvPr/>
        </p:nvSpPr>
        <p:spPr>
          <a:xfrm>
            <a:off x="7467600" y="2541639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Contact Sample</a:t>
            </a:r>
            <a:endParaRPr lang="en-NZ" sz="1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DC44F5-F158-41AA-AD88-72F0C1107E9A}"/>
              </a:ext>
            </a:extLst>
          </p:cNvPr>
          <p:cNvSpPr/>
          <p:nvPr/>
        </p:nvSpPr>
        <p:spPr>
          <a:xfrm>
            <a:off x="7467600" y="703005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Survey Population</a:t>
            </a:r>
            <a:br>
              <a:rPr lang="en-US" sz="1200" dirty="0"/>
            </a:br>
            <a:r>
              <a:rPr lang="en-US" sz="1200" dirty="0"/>
              <a:t>Sample Frame</a:t>
            </a:r>
            <a:endParaRPr lang="en-NZ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6468BB-F767-4202-9A46-EB162815CD76}"/>
              </a:ext>
            </a:extLst>
          </p:cNvPr>
          <p:cNvSpPr/>
          <p:nvPr/>
        </p:nvSpPr>
        <p:spPr>
          <a:xfrm>
            <a:off x="7467600" y="1622322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Sample Design</a:t>
            </a:r>
            <a:br>
              <a:rPr lang="en-US" sz="1200" dirty="0"/>
            </a:br>
            <a:r>
              <a:rPr lang="en-US" sz="1200" dirty="0"/>
              <a:t>Select Sample</a:t>
            </a:r>
            <a:endParaRPr lang="en-NZ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81E86E-D5EE-41A0-BF2D-1900D452BEDB}"/>
              </a:ext>
            </a:extLst>
          </p:cNvPr>
          <p:cNvSpPr/>
          <p:nvPr/>
        </p:nvSpPr>
        <p:spPr>
          <a:xfrm>
            <a:off x="2590801" y="1622322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Design survey instrument</a:t>
            </a:r>
            <a:endParaRPr lang="en-NZ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849512-172A-44E2-8B1D-FCA17CAA7C86}"/>
              </a:ext>
            </a:extLst>
          </p:cNvPr>
          <p:cNvSpPr/>
          <p:nvPr/>
        </p:nvSpPr>
        <p:spPr>
          <a:xfrm>
            <a:off x="5029200" y="6390968"/>
            <a:ext cx="2133600" cy="471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Report and Evaluate</a:t>
            </a:r>
            <a:endParaRPr lang="en-NZ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3D765D5-EF5C-473C-8494-7B0FD3474BAD}"/>
              </a:ext>
            </a:extLst>
          </p:cNvPr>
          <p:cNvCxnSpPr>
            <a:stCxn id="2" idx="2"/>
            <a:endCxn id="10" idx="0"/>
          </p:cNvCxnSpPr>
          <p:nvPr/>
        </p:nvCxnSpPr>
        <p:spPr>
          <a:xfrm flipH="1">
            <a:off x="3657601" y="471948"/>
            <a:ext cx="2438399" cy="1150374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9DF954-FDBF-4BCA-8957-4819864B8140}"/>
              </a:ext>
            </a:extLst>
          </p:cNvPr>
          <p:cNvCxnSpPr>
            <a:cxnSpLocks/>
            <a:stCxn id="2" idx="2"/>
            <a:endCxn id="8" idx="0"/>
          </p:cNvCxnSpPr>
          <p:nvPr/>
        </p:nvCxnSpPr>
        <p:spPr>
          <a:xfrm>
            <a:off x="6096000" y="471948"/>
            <a:ext cx="2438400" cy="231057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37C3D4-34EF-42F7-805D-832AAF4736F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8534400" y="1174953"/>
            <a:ext cx="0" cy="447369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B83AE9-5BBB-4DF4-A469-D25EF0C55832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>
            <a:off x="8534400" y="2094270"/>
            <a:ext cx="0" cy="447369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3589EFA-F8DB-482E-AD0E-55C5B55DA232}"/>
              </a:ext>
            </a:extLst>
          </p:cNvPr>
          <p:cNvCxnSpPr>
            <a:cxnSpLocks/>
            <a:stCxn id="10" idx="2"/>
            <a:endCxn id="3" idx="0"/>
          </p:cNvCxnSpPr>
          <p:nvPr/>
        </p:nvCxnSpPr>
        <p:spPr>
          <a:xfrm>
            <a:off x="3657601" y="2094270"/>
            <a:ext cx="2438399" cy="1292942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666661F-CC3D-4288-82F7-DC344DF397DF}"/>
              </a:ext>
            </a:extLst>
          </p:cNvPr>
          <p:cNvCxnSpPr>
            <a:cxnSpLocks/>
            <a:stCxn id="7" idx="2"/>
            <a:endCxn id="3" idx="0"/>
          </p:cNvCxnSpPr>
          <p:nvPr/>
        </p:nvCxnSpPr>
        <p:spPr>
          <a:xfrm flipH="1">
            <a:off x="6096000" y="3013587"/>
            <a:ext cx="2438400" cy="373625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4D290E-4A3D-43F5-AB7D-673715EC9380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6096000" y="3859160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AABE33-B4A4-4C2C-8C4B-DF83D287950A}"/>
              </a:ext>
            </a:extLst>
          </p:cNvPr>
          <p:cNvCxnSpPr>
            <a:cxnSpLocks/>
          </p:cNvCxnSpPr>
          <p:nvPr/>
        </p:nvCxnSpPr>
        <p:spPr>
          <a:xfrm>
            <a:off x="6081252" y="4595351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295498A-EE99-4590-81F8-67DD9C505955}"/>
              </a:ext>
            </a:extLst>
          </p:cNvPr>
          <p:cNvCxnSpPr>
            <a:cxnSpLocks/>
          </p:cNvCxnSpPr>
          <p:nvPr/>
        </p:nvCxnSpPr>
        <p:spPr>
          <a:xfrm>
            <a:off x="6081252" y="5361038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8C077D-22F6-460C-8784-70B5028DD60B}"/>
              </a:ext>
            </a:extLst>
          </p:cNvPr>
          <p:cNvCxnSpPr>
            <a:cxnSpLocks/>
          </p:cNvCxnSpPr>
          <p:nvPr/>
        </p:nvCxnSpPr>
        <p:spPr>
          <a:xfrm>
            <a:off x="6081252" y="6111977"/>
            <a:ext cx="0" cy="278991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222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4C8723-9162-4B64-8A9D-E23AB6BF613D}"/>
              </a:ext>
            </a:extLst>
          </p:cNvPr>
          <p:cNvSpPr/>
          <p:nvPr/>
        </p:nvSpPr>
        <p:spPr>
          <a:xfrm>
            <a:off x="629265" y="0"/>
            <a:ext cx="4876800" cy="30774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Population or process</a:t>
            </a:r>
          </a:p>
          <a:p>
            <a:pPr algn="ctr"/>
            <a:endParaRPr lang="en-US" sz="2800" dirty="0"/>
          </a:p>
          <a:p>
            <a:pPr algn="ctr"/>
            <a:endParaRPr lang="en-US" sz="2800" dirty="0"/>
          </a:p>
          <a:p>
            <a:pPr algn="ctr"/>
            <a:endParaRPr lang="en-NZ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BCA58-4189-4661-8091-0C071F881382}"/>
              </a:ext>
            </a:extLst>
          </p:cNvPr>
          <p:cNvSpPr txBox="1"/>
          <p:nvPr/>
        </p:nvSpPr>
        <p:spPr>
          <a:xfrm>
            <a:off x="4277341" y="1227183"/>
            <a:ext cx="1246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Observable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variables</a:t>
            </a:r>
            <a:endParaRPr lang="en-NZ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CAA9B4-1CC3-4E8E-A913-7E910B31FE48}"/>
                  </a:ext>
                </a:extLst>
              </p:cNvPr>
              <p:cNvSpPr txBox="1"/>
              <p:nvPr/>
            </p:nvSpPr>
            <p:spPr>
              <a:xfrm>
                <a:off x="735421" y="2580968"/>
                <a:ext cx="310283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Population parameters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…</m:t>
                    </m:r>
                  </m:oMath>
                </a14:m>
                <a:endParaRPr lang="en-NZ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CAA9B4-1CC3-4E8E-A913-7E910B31F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421" y="2580968"/>
                <a:ext cx="3102837" cy="369332"/>
              </a:xfrm>
              <a:prstGeom prst="rect">
                <a:avLst/>
              </a:prstGeom>
              <a:blipFill>
                <a:blip r:embed="rId2"/>
                <a:stretch>
                  <a:fillRect l="-1768" t="-8197" b="-2459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58122F7-799C-4279-AF45-D397FFA6070A}"/>
              </a:ext>
            </a:extLst>
          </p:cNvPr>
          <p:cNvSpPr/>
          <p:nvPr/>
        </p:nvSpPr>
        <p:spPr>
          <a:xfrm>
            <a:off x="7757651" y="1061884"/>
            <a:ext cx="159282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</a:t>
            </a:r>
            <a:endParaRPr lang="en-NZ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BCDC29-AAD1-4D92-BE83-BBF54AAC8BF7}"/>
              </a:ext>
            </a:extLst>
          </p:cNvPr>
          <p:cNvSpPr/>
          <p:nvPr/>
        </p:nvSpPr>
        <p:spPr>
          <a:xfrm>
            <a:off x="8136193" y="530801"/>
            <a:ext cx="159282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</a:t>
            </a:r>
            <a:endParaRPr lang="en-NZ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536E0-EF5F-49D9-9F50-33D6C46686D7}"/>
              </a:ext>
            </a:extLst>
          </p:cNvPr>
          <p:cNvSpPr/>
          <p:nvPr/>
        </p:nvSpPr>
        <p:spPr>
          <a:xfrm>
            <a:off x="6641691" y="3059668"/>
            <a:ext cx="159282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</a:t>
            </a:r>
            <a:endParaRPr lang="en-NZ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18EF65-1728-4EE1-9FFD-A8A1B8115251}"/>
              </a:ext>
            </a:extLst>
          </p:cNvPr>
          <p:cNvSpPr/>
          <p:nvPr/>
        </p:nvSpPr>
        <p:spPr>
          <a:xfrm>
            <a:off x="6964155" y="2533501"/>
            <a:ext cx="1592826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</a:t>
            </a:r>
            <a:endParaRPr lang="en-NZ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63B2DD-10F9-4B68-833B-B3DBCE7474FC}"/>
              </a:ext>
            </a:extLst>
          </p:cNvPr>
          <p:cNvSpPr/>
          <p:nvPr/>
        </p:nvSpPr>
        <p:spPr>
          <a:xfrm>
            <a:off x="7266038" y="2040816"/>
            <a:ext cx="159282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</a:t>
            </a:r>
            <a:endParaRPr lang="en-NZ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A86073-17AD-4A8A-80BB-CFC98A0FE0F4}"/>
              </a:ext>
            </a:extLst>
          </p:cNvPr>
          <p:cNvSpPr/>
          <p:nvPr/>
        </p:nvSpPr>
        <p:spPr>
          <a:xfrm>
            <a:off x="7565922" y="1553047"/>
            <a:ext cx="159282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</a:t>
            </a:r>
            <a:endParaRPr lang="en-NZ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CFDB762-77CB-4884-B7E2-1D773C7F0BDB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5506065" y="715467"/>
            <a:ext cx="2630128" cy="823282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3E9589-039F-4E62-8C21-B15F06CEA454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 flipV="1">
            <a:off x="5506065" y="1246550"/>
            <a:ext cx="2251586" cy="292199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220600-2D5D-4DE0-9F5E-6E88B02908CD}"/>
              </a:ext>
            </a:extLst>
          </p:cNvPr>
          <p:cNvCxnSpPr>
            <a:cxnSpLocks/>
            <a:stCxn id="8" idx="3"/>
            <a:endCxn id="31" idx="1"/>
          </p:cNvCxnSpPr>
          <p:nvPr/>
        </p:nvCxnSpPr>
        <p:spPr>
          <a:xfrm flipV="1">
            <a:off x="8556981" y="2278244"/>
            <a:ext cx="1589909" cy="439923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B8CD14-5003-4C29-A3B6-5C5F33CAA438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5506065" y="1538749"/>
            <a:ext cx="1135626" cy="170558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0DD5DA-1FF8-479A-ACC3-E3144025827A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5506065" y="1538749"/>
            <a:ext cx="1458090" cy="1179418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4C58D09-ECF6-4EAE-8453-ED4CC340E44D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5506065" y="1538749"/>
            <a:ext cx="1759973" cy="686733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D6EB6B-86CE-4673-B6D0-E7B2940364EC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5506065" y="1538749"/>
            <a:ext cx="2059857" cy="198964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2DAE9289-CF2B-47B4-9050-29E433323B4E}"/>
              </a:ext>
            </a:extLst>
          </p:cNvPr>
          <p:cNvSpPr/>
          <p:nvPr/>
        </p:nvSpPr>
        <p:spPr>
          <a:xfrm>
            <a:off x="10146890" y="1653655"/>
            <a:ext cx="1818968" cy="12491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presentation</a:t>
            </a:r>
            <a:endParaRPr lang="en-NZ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F16B730-2DDD-4A50-B82C-B5755003CBA6}"/>
              </a:ext>
            </a:extLst>
          </p:cNvPr>
          <p:cNvSpPr/>
          <p:nvPr/>
        </p:nvSpPr>
        <p:spPr>
          <a:xfrm>
            <a:off x="9237406" y="4351397"/>
            <a:ext cx="1818968" cy="124917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Sample </a:t>
            </a:r>
          </a:p>
          <a:p>
            <a:pPr algn="ctr"/>
            <a:r>
              <a:rPr lang="en-US" dirty="0"/>
              <a:t>statistics</a:t>
            </a:r>
            <a:endParaRPr lang="en-NZ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C91F039-22BE-43EE-B216-F3D172FD8DFB}"/>
              </a:ext>
            </a:extLst>
          </p:cNvPr>
          <p:cNvCxnSpPr>
            <a:cxnSpLocks/>
            <a:stCxn id="8" idx="3"/>
            <a:endCxn id="32" idx="0"/>
          </p:cNvCxnSpPr>
          <p:nvPr/>
        </p:nvCxnSpPr>
        <p:spPr>
          <a:xfrm>
            <a:off x="8556981" y="2718167"/>
            <a:ext cx="1589909" cy="163323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B1ABE1-92AE-4274-A72F-140E63B2D36C}"/>
                  </a:ext>
                </a:extLst>
              </p:cNvPr>
              <p:cNvSpPr txBox="1"/>
              <p:nvPr/>
            </p:nvSpPr>
            <p:spPr>
              <a:xfrm>
                <a:off x="9790470" y="5231243"/>
                <a:ext cx="8263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…</m:t>
                      </m:r>
                    </m:oMath>
                  </m:oMathPara>
                </a14:m>
                <a:endParaRPr lang="en-NZ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2B1ABE1-92AE-4274-A72F-140E63B2D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0470" y="5231243"/>
                <a:ext cx="82638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Arc 37">
            <a:extLst>
              <a:ext uri="{FF2B5EF4-FFF2-40B4-BE49-F238E27FC236}">
                <a16:creationId xmlns:a16="http://schemas.microsoft.com/office/drawing/2014/main" id="{0E3AFD9C-665F-4270-97B4-35ABA7043C89}"/>
              </a:ext>
            </a:extLst>
          </p:cNvPr>
          <p:cNvSpPr/>
          <p:nvPr/>
        </p:nvSpPr>
        <p:spPr>
          <a:xfrm flipH="1" flipV="1">
            <a:off x="2868792" y="-11600"/>
            <a:ext cx="7415749" cy="6142533"/>
          </a:xfrm>
          <a:prstGeom prst="arc">
            <a:avLst>
              <a:gd name="adj1" fmla="val 13104689"/>
              <a:gd name="adj2" fmla="val 21580468"/>
            </a:avLst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65B137-DDEC-410A-B692-D2E88759C061}"/>
              </a:ext>
            </a:extLst>
          </p:cNvPr>
          <p:cNvSpPr txBox="1"/>
          <p:nvPr/>
        </p:nvSpPr>
        <p:spPr>
          <a:xfrm>
            <a:off x="5104594" y="5369104"/>
            <a:ext cx="3031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Statistical Inference</a:t>
            </a:r>
            <a:endParaRPr lang="en-NZ" sz="2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173C60D-AC74-4AB0-9D9F-419C6162CE8D}"/>
              </a:ext>
            </a:extLst>
          </p:cNvPr>
          <p:cNvSpPr txBox="1"/>
          <p:nvPr/>
        </p:nvSpPr>
        <p:spPr>
          <a:xfrm rot="7832624">
            <a:off x="9017083" y="-106873"/>
            <a:ext cx="7665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...</a:t>
            </a:r>
            <a:endParaRPr lang="en-NZ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69E00E-636A-4B83-9C18-20208F2709EC}"/>
              </a:ext>
            </a:extLst>
          </p:cNvPr>
          <p:cNvSpPr txBox="1"/>
          <p:nvPr/>
        </p:nvSpPr>
        <p:spPr>
          <a:xfrm rot="18272706">
            <a:off x="6087589" y="3354651"/>
            <a:ext cx="12458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2">
                    <a:lumMod val="75000"/>
                  </a:schemeClr>
                </a:solidFill>
              </a:rPr>
              <a:t>……</a:t>
            </a:r>
            <a:endParaRPr lang="en-NZ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976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7B22FB2-93DE-4CBD-9F4E-8B3614B2B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55587" y="2270326"/>
            <a:ext cx="5744511" cy="307764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C4ACD30-F458-4F27-BA76-4B8657AABF42}"/>
              </a:ext>
            </a:extLst>
          </p:cNvPr>
          <p:cNvSpPr/>
          <p:nvPr/>
        </p:nvSpPr>
        <p:spPr>
          <a:xfrm>
            <a:off x="10206829" y="2176169"/>
            <a:ext cx="186537" cy="364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7FED44-E7D6-493E-8F62-ED70CEA67B48}"/>
              </a:ext>
            </a:extLst>
          </p:cNvPr>
          <p:cNvSpPr/>
          <p:nvPr/>
        </p:nvSpPr>
        <p:spPr>
          <a:xfrm>
            <a:off x="4498976" y="1984439"/>
            <a:ext cx="186537" cy="3648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502CA8-6284-44CE-B526-B44963F0BCFA}"/>
              </a:ext>
            </a:extLst>
          </p:cNvPr>
          <p:cNvSpPr/>
          <p:nvPr/>
        </p:nvSpPr>
        <p:spPr>
          <a:xfrm>
            <a:off x="4425220" y="5217284"/>
            <a:ext cx="6085464" cy="440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2B8A7D5-A049-4B02-A225-AFD2B8290D87}"/>
              </a:ext>
            </a:extLst>
          </p:cNvPr>
          <p:cNvCxnSpPr>
            <a:cxnSpLocks/>
          </p:cNvCxnSpPr>
          <p:nvPr/>
        </p:nvCxnSpPr>
        <p:spPr>
          <a:xfrm>
            <a:off x="2772697" y="1032387"/>
            <a:ext cx="0" cy="41098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292F70-3147-40CF-B7C6-38A3633093F1}"/>
              </a:ext>
            </a:extLst>
          </p:cNvPr>
          <p:cNvCxnSpPr>
            <a:cxnSpLocks/>
          </p:cNvCxnSpPr>
          <p:nvPr/>
        </p:nvCxnSpPr>
        <p:spPr>
          <a:xfrm>
            <a:off x="1150374" y="5142271"/>
            <a:ext cx="911306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33824-4E25-4EE7-8169-9264D70CEEBC}"/>
                  </a:ext>
                </a:extLst>
              </p:cNvPr>
              <p:cNvSpPr txBox="1"/>
              <p:nvPr/>
            </p:nvSpPr>
            <p:spPr>
              <a:xfrm>
                <a:off x="1891902" y="5346530"/>
                <a:ext cx="17147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NZ" sz="2400" dirty="0"/>
                  <a:t> </a:t>
                </a:r>
              </a:p>
              <a:p>
                <a:pPr algn="ctr"/>
                <a:r>
                  <a:rPr lang="en-US" sz="2400" dirty="0"/>
                  <a:t>Unknown </a:t>
                </a:r>
              </a:p>
              <a:p>
                <a:pPr algn="ctr"/>
                <a:r>
                  <a:rPr lang="en-US" sz="2400" dirty="0"/>
                  <a:t>true value </a:t>
                </a:r>
                <a:endParaRPr lang="en-NZ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F33824-4E25-4EE7-8169-9264D70CE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1902" y="5346530"/>
                <a:ext cx="1714799" cy="1200329"/>
              </a:xfrm>
              <a:prstGeom prst="rect">
                <a:avLst/>
              </a:prstGeom>
              <a:blipFill>
                <a:blip r:embed="rId4"/>
                <a:stretch>
                  <a:fillRect r="-1064" b="-1066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5F91DB-559D-44CD-A114-357B4BA3BDC6}"/>
                  </a:ext>
                </a:extLst>
              </p:cNvPr>
              <p:cNvSpPr txBox="1"/>
              <p:nvPr/>
            </p:nvSpPr>
            <p:spPr>
              <a:xfrm>
                <a:off x="6397099" y="5316474"/>
                <a:ext cx="1861997" cy="1580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NZ" sz="2400" dirty="0"/>
                  <a:t>]</a:t>
                </a:r>
                <a:br>
                  <a:rPr lang="en-NZ" sz="2400" dirty="0"/>
                </a:br>
                <a:r>
                  <a:rPr lang="en-NZ" sz="2400" dirty="0"/>
                  <a:t>Expected value of the estimator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5F91DB-559D-44CD-A114-357B4BA3B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099" y="5316474"/>
                <a:ext cx="1861997" cy="1580048"/>
              </a:xfrm>
              <a:prstGeom prst="rect">
                <a:avLst/>
              </a:prstGeom>
              <a:blipFill>
                <a:blip r:embed="rId5"/>
                <a:stretch>
                  <a:fillRect t="-2317" r="-2941" b="-772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D7A56D-75C1-4651-9694-7D6F20E51AA8}"/>
                  </a:ext>
                </a:extLst>
              </p:cNvPr>
              <p:cNvSpPr txBox="1"/>
              <p:nvPr/>
            </p:nvSpPr>
            <p:spPr>
              <a:xfrm>
                <a:off x="4117850" y="2455298"/>
                <a:ext cx="3132991" cy="47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NZ" sz="2400" dirty="0"/>
                  <a:t>values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FD7A56D-75C1-4651-9694-7D6F20E51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850" y="2455298"/>
                <a:ext cx="3132991" cy="471539"/>
              </a:xfrm>
              <a:prstGeom prst="rect">
                <a:avLst/>
              </a:prstGeom>
              <a:blipFill>
                <a:blip r:embed="rId6"/>
                <a:stretch>
                  <a:fillRect l="-3119" t="-7792" b="-2987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4FBE3E56-D264-42DD-99A4-6B1D5079E434}"/>
              </a:ext>
            </a:extLst>
          </p:cNvPr>
          <p:cNvSpPr/>
          <p:nvPr/>
        </p:nvSpPr>
        <p:spPr>
          <a:xfrm>
            <a:off x="4425220" y="2095791"/>
            <a:ext cx="6085464" cy="440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CC55EBF-E389-4CC4-8A19-0FEFFAA36FF5}"/>
              </a:ext>
            </a:extLst>
          </p:cNvPr>
          <p:cNvCxnSpPr>
            <a:cxnSpLocks/>
          </p:cNvCxnSpPr>
          <p:nvPr/>
        </p:nvCxnSpPr>
        <p:spPr>
          <a:xfrm>
            <a:off x="7427843" y="1219200"/>
            <a:ext cx="0" cy="3923071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E3C20F-3D70-4DFB-A950-0B3BDA47ACE3}"/>
              </a:ext>
            </a:extLst>
          </p:cNvPr>
          <p:cNvCxnSpPr>
            <a:cxnSpLocks/>
          </p:cNvCxnSpPr>
          <p:nvPr/>
        </p:nvCxnSpPr>
        <p:spPr>
          <a:xfrm>
            <a:off x="3146323" y="5545394"/>
            <a:ext cx="3726425" cy="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FE477E-CD2F-47F5-A124-6C2DB7CE3F88}"/>
                  </a:ext>
                </a:extLst>
              </p:cNvPr>
              <p:cNvSpPr txBox="1"/>
              <p:nvPr/>
            </p:nvSpPr>
            <p:spPr>
              <a:xfrm>
                <a:off x="4467064" y="5599759"/>
                <a:ext cx="1081065" cy="4720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Bias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NZ" sz="2400" dirty="0"/>
                  <a:t>]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5FE477E-CD2F-47F5-A124-6C2DB7CE3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064" y="5599759"/>
                <a:ext cx="1081065" cy="472052"/>
              </a:xfrm>
              <a:prstGeom prst="rect">
                <a:avLst/>
              </a:prstGeom>
              <a:blipFill>
                <a:blip r:embed="rId7"/>
                <a:stretch>
                  <a:fillRect l="-9040" t="-7792" r="-24294" b="-2987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5F62D1-1DF4-462D-9F64-72DD4736AE25}"/>
                  </a:ext>
                </a:extLst>
              </p:cNvPr>
              <p:cNvSpPr txBox="1"/>
              <p:nvPr/>
            </p:nvSpPr>
            <p:spPr>
              <a:xfrm>
                <a:off x="8387028" y="3087329"/>
                <a:ext cx="1377300" cy="1210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dirty="0"/>
                  <a:t>SE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[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en-NZ" sz="2400" dirty="0"/>
                  <a:t>]</a:t>
                </a:r>
                <a:br>
                  <a:rPr lang="en-NZ" sz="2400" dirty="0"/>
                </a:br>
                <a:r>
                  <a:rPr lang="en-NZ" sz="2400" dirty="0"/>
                  <a:t>Standard </a:t>
                </a:r>
              </a:p>
              <a:p>
                <a:pPr algn="ctr"/>
                <a:r>
                  <a:rPr lang="en-NZ" sz="2400" dirty="0"/>
                  <a:t>Error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A5F62D1-1DF4-462D-9F64-72DD4736A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7028" y="3087329"/>
                <a:ext cx="1377300" cy="1210716"/>
              </a:xfrm>
              <a:prstGeom prst="rect">
                <a:avLst/>
              </a:prstGeom>
              <a:blipFill>
                <a:blip r:embed="rId8"/>
                <a:stretch>
                  <a:fillRect l="-6637" t="-3015" r="-6195" b="-100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7F4B612-5612-4522-B566-AE0EBB78F48F}"/>
              </a:ext>
            </a:extLst>
          </p:cNvPr>
          <p:cNvCxnSpPr>
            <a:cxnSpLocks/>
          </p:cNvCxnSpPr>
          <p:nvPr/>
        </p:nvCxnSpPr>
        <p:spPr>
          <a:xfrm>
            <a:off x="7427842" y="4000545"/>
            <a:ext cx="1185216" cy="0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708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D59DED1-B9B5-4B19-AA2E-C6945BB3FCB1}"/>
              </a:ext>
            </a:extLst>
          </p:cNvPr>
          <p:cNvGrpSpPr/>
          <p:nvPr/>
        </p:nvGrpSpPr>
        <p:grpSpPr>
          <a:xfrm>
            <a:off x="2982859" y="3986974"/>
            <a:ext cx="2772697" cy="2605547"/>
            <a:chOff x="2212258" y="1848465"/>
            <a:chExt cx="2772697" cy="260554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08FADBB-AFB3-4832-8577-2C80A023CFB1}"/>
                </a:ext>
              </a:extLst>
            </p:cNvPr>
            <p:cNvSpPr/>
            <p:nvPr/>
          </p:nvSpPr>
          <p:spPr>
            <a:xfrm>
              <a:off x="2212258" y="1848465"/>
              <a:ext cx="2772697" cy="260554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FF951E1-385D-45E4-A4DC-074B76F27BBF}"/>
                </a:ext>
              </a:extLst>
            </p:cNvPr>
            <p:cNvSpPr/>
            <p:nvPr/>
          </p:nvSpPr>
          <p:spPr>
            <a:xfrm>
              <a:off x="2561301" y="2161866"/>
              <a:ext cx="2079523" cy="20082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F9F841C-DF0E-4883-9618-F58354A8FBCD}"/>
                </a:ext>
              </a:extLst>
            </p:cNvPr>
            <p:cNvSpPr/>
            <p:nvPr/>
          </p:nvSpPr>
          <p:spPr>
            <a:xfrm>
              <a:off x="2888226" y="2512139"/>
              <a:ext cx="1420759" cy="1307693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F5F482D-AF80-4012-8199-0CA242AD60DE}"/>
                </a:ext>
              </a:extLst>
            </p:cNvPr>
            <p:cNvSpPr/>
            <p:nvPr/>
          </p:nvSpPr>
          <p:spPr>
            <a:xfrm>
              <a:off x="3254476" y="2826772"/>
              <a:ext cx="688257" cy="67842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90AB373-0F03-4AE0-9128-DAD54A17D82C}"/>
              </a:ext>
            </a:extLst>
          </p:cNvPr>
          <p:cNvGrpSpPr/>
          <p:nvPr/>
        </p:nvGrpSpPr>
        <p:grpSpPr>
          <a:xfrm>
            <a:off x="6373757" y="3986975"/>
            <a:ext cx="2772697" cy="2605547"/>
            <a:chOff x="2212258" y="1848465"/>
            <a:chExt cx="2772697" cy="2605547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FD1770D-6AE6-4BD7-AB5C-CD008114FD0A}"/>
                </a:ext>
              </a:extLst>
            </p:cNvPr>
            <p:cNvSpPr/>
            <p:nvPr/>
          </p:nvSpPr>
          <p:spPr>
            <a:xfrm>
              <a:off x="2212258" y="1848465"/>
              <a:ext cx="2772697" cy="260554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CF0F6E6-5B1F-44F3-BFE5-69A632ED0386}"/>
                </a:ext>
              </a:extLst>
            </p:cNvPr>
            <p:cNvSpPr/>
            <p:nvPr/>
          </p:nvSpPr>
          <p:spPr>
            <a:xfrm>
              <a:off x="2561301" y="2161866"/>
              <a:ext cx="2079523" cy="20082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DEBDB0-7CC6-4891-982B-51FD17DB4CA8}"/>
                </a:ext>
              </a:extLst>
            </p:cNvPr>
            <p:cNvSpPr/>
            <p:nvPr/>
          </p:nvSpPr>
          <p:spPr>
            <a:xfrm>
              <a:off x="2888226" y="2512139"/>
              <a:ext cx="1420759" cy="1307693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262B90-E643-4879-9F80-6E7516F91015}"/>
                </a:ext>
              </a:extLst>
            </p:cNvPr>
            <p:cNvSpPr/>
            <p:nvPr/>
          </p:nvSpPr>
          <p:spPr>
            <a:xfrm>
              <a:off x="3254476" y="2826772"/>
              <a:ext cx="688257" cy="67842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C179E9-D2DE-4B75-A511-3AC711983ADA}"/>
              </a:ext>
            </a:extLst>
          </p:cNvPr>
          <p:cNvGrpSpPr/>
          <p:nvPr/>
        </p:nvGrpSpPr>
        <p:grpSpPr>
          <a:xfrm>
            <a:off x="2982859" y="1072941"/>
            <a:ext cx="2772697" cy="2605547"/>
            <a:chOff x="2212258" y="1848465"/>
            <a:chExt cx="2772697" cy="2605547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970A297-2D74-42CD-914A-70BD7E1714CC}"/>
                </a:ext>
              </a:extLst>
            </p:cNvPr>
            <p:cNvSpPr/>
            <p:nvPr/>
          </p:nvSpPr>
          <p:spPr>
            <a:xfrm>
              <a:off x="2212258" y="1848465"/>
              <a:ext cx="2772697" cy="260554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0C4EA5D-412D-409D-A82B-C736CFA8043B}"/>
                </a:ext>
              </a:extLst>
            </p:cNvPr>
            <p:cNvSpPr/>
            <p:nvPr/>
          </p:nvSpPr>
          <p:spPr>
            <a:xfrm>
              <a:off x="2561301" y="2161866"/>
              <a:ext cx="2079523" cy="20082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4685734-4B28-452B-9800-4C134C9B4AB9}"/>
                </a:ext>
              </a:extLst>
            </p:cNvPr>
            <p:cNvSpPr/>
            <p:nvPr/>
          </p:nvSpPr>
          <p:spPr>
            <a:xfrm>
              <a:off x="2888226" y="2512139"/>
              <a:ext cx="1420759" cy="1307693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418887-571A-43EF-AD29-0118849F8D7E}"/>
                </a:ext>
              </a:extLst>
            </p:cNvPr>
            <p:cNvSpPr/>
            <p:nvPr/>
          </p:nvSpPr>
          <p:spPr>
            <a:xfrm>
              <a:off x="3254476" y="2826772"/>
              <a:ext cx="688257" cy="67842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9266C87-3BDB-498C-8EFC-4A17424F9454}"/>
              </a:ext>
            </a:extLst>
          </p:cNvPr>
          <p:cNvGrpSpPr/>
          <p:nvPr/>
        </p:nvGrpSpPr>
        <p:grpSpPr>
          <a:xfrm>
            <a:off x="6373757" y="1072941"/>
            <a:ext cx="2772697" cy="2605547"/>
            <a:chOff x="2212258" y="1848465"/>
            <a:chExt cx="2772697" cy="2605547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8E96945-59C5-409E-937A-86C0BB459E56}"/>
                </a:ext>
              </a:extLst>
            </p:cNvPr>
            <p:cNvSpPr/>
            <p:nvPr/>
          </p:nvSpPr>
          <p:spPr>
            <a:xfrm>
              <a:off x="2212258" y="1848465"/>
              <a:ext cx="2772697" cy="2605547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E08FC0B-F7D0-4C6E-B946-BF323B12A2AE}"/>
                </a:ext>
              </a:extLst>
            </p:cNvPr>
            <p:cNvSpPr/>
            <p:nvPr/>
          </p:nvSpPr>
          <p:spPr>
            <a:xfrm>
              <a:off x="2561301" y="2161866"/>
              <a:ext cx="2079523" cy="200824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5F4AF97-DD52-454F-BD49-269B06062F27}"/>
                </a:ext>
              </a:extLst>
            </p:cNvPr>
            <p:cNvSpPr/>
            <p:nvPr/>
          </p:nvSpPr>
          <p:spPr>
            <a:xfrm>
              <a:off x="2888226" y="2512139"/>
              <a:ext cx="1420759" cy="1307693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706C4B4-C7A6-4358-9B9F-CEA1A8FC5B65}"/>
                </a:ext>
              </a:extLst>
            </p:cNvPr>
            <p:cNvSpPr/>
            <p:nvPr/>
          </p:nvSpPr>
          <p:spPr>
            <a:xfrm>
              <a:off x="3254476" y="2826772"/>
              <a:ext cx="688257" cy="678426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EB5968F-1408-4CE6-9050-82F6DECDBAB5}"/>
              </a:ext>
            </a:extLst>
          </p:cNvPr>
          <p:cNvSpPr txBox="1"/>
          <p:nvPr/>
        </p:nvSpPr>
        <p:spPr>
          <a:xfrm>
            <a:off x="1816388" y="2191048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Biased</a:t>
            </a:r>
            <a:endParaRPr lang="en-NZ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A6938B-D166-49FA-9777-27F382DFB4DA}"/>
              </a:ext>
            </a:extLst>
          </p:cNvPr>
          <p:cNvSpPr txBox="1"/>
          <p:nvPr/>
        </p:nvSpPr>
        <p:spPr>
          <a:xfrm>
            <a:off x="7025318" y="528473"/>
            <a:ext cx="1513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 Precision</a:t>
            </a:r>
            <a:endParaRPr lang="en-NZ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89E16E-F8CC-4866-B869-C06456F6AFE9}"/>
              </a:ext>
            </a:extLst>
          </p:cNvPr>
          <p:cNvSpPr txBox="1"/>
          <p:nvPr/>
        </p:nvSpPr>
        <p:spPr>
          <a:xfrm>
            <a:off x="3641382" y="543538"/>
            <a:ext cx="1469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Precision</a:t>
            </a:r>
            <a:endParaRPr lang="en-NZ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CEED08-2FA9-463E-8C62-B359EEDAED9A}"/>
              </a:ext>
            </a:extLst>
          </p:cNvPr>
          <p:cNvSpPr txBox="1"/>
          <p:nvPr/>
        </p:nvSpPr>
        <p:spPr>
          <a:xfrm>
            <a:off x="1683338" y="5105081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Unbiased</a:t>
            </a:r>
            <a:endParaRPr lang="en-NZ" dirty="0"/>
          </a:p>
        </p:txBody>
      </p:sp>
      <p:sp>
        <p:nvSpPr>
          <p:cNvPr id="30" name="Explosion: 8 Points 29">
            <a:extLst>
              <a:ext uri="{FF2B5EF4-FFF2-40B4-BE49-F238E27FC236}">
                <a16:creationId xmlns:a16="http://schemas.microsoft.com/office/drawing/2014/main" id="{3CE1C621-0A47-4C95-B16A-CB5DB8665A2D}"/>
              </a:ext>
            </a:extLst>
          </p:cNvPr>
          <p:cNvSpPr/>
          <p:nvPr/>
        </p:nvSpPr>
        <p:spPr>
          <a:xfrm>
            <a:off x="3540838" y="2139753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1" name="Explosion: 8 Points 30">
            <a:extLst>
              <a:ext uri="{FF2B5EF4-FFF2-40B4-BE49-F238E27FC236}">
                <a16:creationId xmlns:a16="http://schemas.microsoft.com/office/drawing/2014/main" id="{13E0DC93-BB58-4D74-B12C-099D867E7F57}"/>
              </a:ext>
            </a:extLst>
          </p:cNvPr>
          <p:cNvSpPr/>
          <p:nvPr/>
        </p:nvSpPr>
        <p:spPr>
          <a:xfrm>
            <a:off x="3641382" y="1743347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2" name="Explosion: 8 Points 31">
            <a:extLst>
              <a:ext uri="{FF2B5EF4-FFF2-40B4-BE49-F238E27FC236}">
                <a16:creationId xmlns:a16="http://schemas.microsoft.com/office/drawing/2014/main" id="{D3224854-CEDD-40FC-87C8-DC5361697B37}"/>
              </a:ext>
            </a:extLst>
          </p:cNvPr>
          <p:cNvSpPr/>
          <p:nvPr/>
        </p:nvSpPr>
        <p:spPr>
          <a:xfrm>
            <a:off x="3307324" y="173841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3" name="Explosion: 8 Points 32">
            <a:extLst>
              <a:ext uri="{FF2B5EF4-FFF2-40B4-BE49-F238E27FC236}">
                <a16:creationId xmlns:a16="http://schemas.microsoft.com/office/drawing/2014/main" id="{C3238C70-4A1B-420D-91C0-383538049D1F}"/>
              </a:ext>
            </a:extLst>
          </p:cNvPr>
          <p:cNvSpPr/>
          <p:nvPr/>
        </p:nvSpPr>
        <p:spPr>
          <a:xfrm>
            <a:off x="3105760" y="2449756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Explosion: 8 Points 33">
            <a:extLst>
              <a:ext uri="{FF2B5EF4-FFF2-40B4-BE49-F238E27FC236}">
                <a16:creationId xmlns:a16="http://schemas.microsoft.com/office/drawing/2014/main" id="{4FE6FE4B-9DE8-4B95-B980-D9B69974D076}"/>
              </a:ext>
            </a:extLst>
          </p:cNvPr>
          <p:cNvSpPr/>
          <p:nvPr/>
        </p:nvSpPr>
        <p:spPr>
          <a:xfrm>
            <a:off x="3336820" y="120720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Explosion: 8 Points 34">
            <a:extLst>
              <a:ext uri="{FF2B5EF4-FFF2-40B4-BE49-F238E27FC236}">
                <a16:creationId xmlns:a16="http://schemas.microsoft.com/office/drawing/2014/main" id="{516C10AB-6B81-4CFF-924B-E09380528CDB}"/>
              </a:ext>
            </a:extLst>
          </p:cNvPr>
          <p:cNvSpPr/>
          <p:nvPr/>
        </p:nvSpPr>
        <p:spPr>
          <a:xfrm>
            <a:off x="2825511" y="1634590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6" name="Explosion: 8 Points 35">
            <a:extLst>
              <a:ext uri="{FF2B5EF4-FFF2-40B4-BE49-F238E27FC236}">
                <a16:creationId xmlns:a16="http://schemas.microsoft.com/office/drawing/2014/main" id="{73D217D3-FFEC-4A05-A289-49038D9189C6}"/>
              </a:ext>
            </a:extLst>
          </p:cNvPr>
          <p:cNvSpPr/>
          <p:nvPr/>
        </p:nvSpPr>
        <p:spPr>
          <a:xfrm>
            <a:off x="3488919" y="1503692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7" name="Explosion: 8 Points 36">
            <a:extLst>
              <a:ext uri="{FF2B5EF4-FFF2-40B4-BE49-F238E27FC236}">
                <a16:creationId xmlns:a16="http://schemas.microsoft.com/office/drawing/2014/main" id="{941EDA6F-0C0D-4C8B-ACC4-3B30FDDB7E8D}"/>
              </a:ext>
            </a:extLst>
          </p:cNvPr>
          <p:cNvSpPr/>
          <p:nvPr/>
        </p:nvSpPr>
        <p:spPr>
          <a:xfrm>
            <a:off x="3366318" y="2209778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8" name="Explosion: 8 Points 37">
            <a:extLst>
              <a:ext uri="{FF2B5EF4-FFF2-40B4-BE49-F238E27FC236}">
                <a16:creationId xmlns:a16="http://schemas.microsoft.com/office/drawing/2014/main" id="{A346CA73-1DA8-4509-9B8A-31261E310318}"/>
              </a:ext>
            </a:extLst>
          </p:cNvPr>
          <p:cNvSpPr/>
          <p:nvPr/>
        </p:nvSpPr>
        <p:spPr>
          <a:xfrm>
            <a:off x="3721505" y="2320402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9" name="Explosion: 8 Points 38">
            <a:extLst>
              <a:ext uri="{FF2B5EF4-FFF2-40B4-BE49-F238E27FC236}">
                <a16:creationId xmlns:a16="http://schemas.microsoft.com/office/drawing/2014/main" id="{02827723-F815-47D3-8C01-16B8B1C5973D}"/>
              </a:ext>
            </a:extLst>
          </p:cNvPr>
          <p:cNvSpPr/>
          <p:nvPr/>
        </p:nvSpPr>
        <p:spPr>
          <a:xfrm>
            <a:off x="3830213" y="2050016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0" name="Explosion: 8 Points 39">
            <a:extLst>
              <a:ext uri="{FF2B5EF4-FFF2-40B4-BE49-F238E27FC236}">
                <a16:creationId xmlns:a16="http://schemas.microsoft.com/office/drawing/2014/main" id="{412FE871-FA12-4B9A-B505-9131FE5C9F62}"/>
              </a:ext>
            </a:extLst>
          </p:cNvPr>
          <p:cNvSpPr/>
          <p:nvPr/>
        </p:nvSpPr>
        <p:spPr>
          <a:xfrm>
            <a:off x="7217248" y="184597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1" name="Explosion: 8 Points 40">
            <a:extLst>
              <a:ext uri="{FF2B5EF4-FFF2-40B4-BE49-F238E27FC236}">
                <a16:creationId xmlns:a16="http://schemas.microsoft.com/office/drawing/2014/main" id="{356FDD3F-7766-472B-ABB5-386EEFB657E4}"/>
              </a:ext>
            </a:extLst>
          </p:cNvPr>
          <p:cNvSpPr/>
          <p:nvPr/>
        </p:nvSpPr>
        <p:spPr>
          <a:xfrm>
            <a:off x="2841456" y="2154466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Explosion: 8 Points 41">
            <a:extLst>
              <a:ext uri="{FF2B5EF4-FFF2-40B4-BE49-F238E27FC236}">
                <a16:creationId xmlns:a16="http://schemas.microsoft.com/office/drawing/2014/main" id="{E6DC56EB-0B7C-4373-8A37-0D841CAE1D1C}"/>
              </a:ext>
            </a:extLst>
          </p:cNvPr>
          <p:cNvSpPr/>
          <p:nvPr/>
        </p:nvSpPr>
        <p:spPr>
          <a:xfrm>
            <a:off x="3866843" y="1681303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Explosion: 8 Points 42">
            <a:extLst>
              <a:ext uri="{FF2B5EF4-FFF2-40B4-BE49-F238E27FC236}">
                <a16:creationId xmlns:a16="http://schemas.microsoft.com/office/drawing/2014/main" id="{7C980051-6678-4B5A-A4C0-828102F5A024}"/>
              </a:ext>
            </a:extLst>
          </p:cNvPr>
          <p:cNvSpPr/>
          <p:nvPr/>
        </p:nvSpPr>
        <p:spPr>
          <a:xfrm>
            <a:off x="4166114" y="1468675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4" name="Explosion: 8 Points 43">
            <a:extLst>
              <a:ext uri="{FF2B5EF4-FFF2-40B4-BE49-F238E27FC236}">
                <a16:creationId xmlns:a16="http://schemas.microsoft.com/office/drawing/2014/main" id="{4ADC76A8-73B7-4DFE-A428-607389CB0C44}"/>
              </a:ext>
            </a:extLst>
          </p:cNvPr>
          <p:cNvSpPr/>
          <p:nvPr/>
        </p:nvSpPr>
        <p:spPr>
          <a:xfrm>
            <a:off x="4148593" y="2408279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5" name="Explosion: 8 Points 44">
            <a:extLst>
              <a:ext uri="{FF2B5EF4-FFF2-40B4-BE49-F238E27FC236}">
                <a16:creationId xmlns:a16="http://schemas.microsoft.com/office/drawing/2014/main" id="{D3B8C348-4386-48D8-9CC2-EE296C13D3C0}"/>
              </a:ext>
            </a:extLst>
          </p:cNvPr>
          <p:cNvSpPr/>
          <p:nvPr/>
        </p:nvSpPr>
        <p:spPr>
          <a:xfrm>
            <a:off x="3561185" y="1955359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Explosion: 8 Points 45">
            <a:extLst>
              <a:ext uri="{FF2B5EF4-FFF2-40B4-BE49-F238E27FC236}">
                <a16:creationId xmlns:a16="http://schemas.microsoft.com/office/drawing/2014/main" id="{55F91D68-1D22-417D-A5AB-FBA164092BE9}"/>
              </a:ext>
            </a:extLst>
          </p:cNvPr>
          <p:cNvSpPr/>
          <p:nvPr/>
        </p:nvSpPr>
        <p:spPr>
          <a:xfrm>
            <a:off x="7182460" y="1664067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Explosion: 8 Points 46">
            <a:extLst>
              <a:ext uri="{FF2B5EF4-FFF2-40B4-BE49-F238E27FC236}">
                <a16:creationId xmlns:a16="http://schemas.microsoft.com/office/drawing/2014/main" id="{8B716363-2CBD-44FC-A066-F17CEFE91AF4}"/>
              </a:ext>
            </a:extLst>
          </p:cNvPr>
          <p:cNvSpPr/>
          <p:nvPr/>
        </p:nvSpPr>
        <p:spPr>
          <a:xfrm>
            <a:off x="7159044" y="2072096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Explosion: 8 Points 47">
            <a:extLst>
              <a:ext uri="{FF2B5EF4-FFF2-40B4-BE49-F238E27FC236}">
                <a16:creationId xmlns:a16="http://schemas.microsoft.com/office/drawing/2014/main" id="{C4455AB3-D020-4E78-AE8C-BDB68DC167AE}"/>
              </a:ext>
            </a:extLst>
          </p:cNvPr>
          <p:cNvSpPr/>
          <p:nvPr/>
        </p:nvSpPr>
        <p:spPr>
          <a:xfrm>
            <a:off x="6899783" y="2191048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9" name="Explosion: 8 Points 48">
            <a:extLst>
              <a:ext uri="{FF2B5EF4-FFF2-40B4-BE49-F238E27FC236}">
                <a16:creationId xmlns:a16="http://schemas.microsoft.com/office/drawing/2014/main" id="{EC60E3F5-9D95-42A8-885A-217BCDDA458E}"/>
              </a:ext>
            </a:extLst>
          </p:cNvPr>
          <p:cNvSpPr/>
          <p:nvPr/>
        </p:nvSpPr>
        <p:spPr>
          <a:xfrm>
            <a:off x="7352680" y="1922175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0" name="Explosion: 8 Points 49">
            <a:extLst>
              <a:ext uri="{FF2B5EF4-FFF2-40B4-BE49-F238E27FC236}">
                <a16:creationId xmlns:a16="http://schemas.microsoft.com/office/drawing/2014/main" id="{E5FFDF58-4527-4DA0-9680-2E6B2FDAC333}"/>
              </a:ext>
            </a:extLst>
          </p:cNvPr>
          <p:cNvSpPr/>
          <p:nvPr/>
        </p:nvSpPr>
        <p:spPr>
          <a:xfrm>
            <a:off x="7350531" y="172491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1" name="Explosion: 8 Points 50">
            <a:extLst>
              <a:ext uri="{FF2B5EF4-FFF2-40B4-BE49-F238E27FC236}">
                <a16:creationId xmlns:a16="http://schemas.microsoft.com/office/drawing/2014/main" id="{2D2602BC-8FB2-4797-911D-9697AF8FE6C4}"/>
              </a:ext>
            </a:extLst>
          </p:cNvPr>
          <p:cNvSpPr/>
          <p:nvPr/>
        </p:nvSpPr>
        <p:spPr>
          <a:xfrm>
            <a:off x="7039829" y="1979958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2" name="Explosion: 8 Points 51">
            <a:extLst>
              <a:ext uri="{FF2B5EF4-FFF2-40B4-BE49-F238E27FC236}">
                <a16:creationId xmlns:a16="http://schemas.microsoft.com/office/drawing/2014/main" id="{E3CA06F5-12AD-4679-B8E1-9ABD5B39E9E9}"/>
              </a:ext>
            </a:extLst>
          </p:cNvPr>
          <p:cNvSpPr/>
          <p:nvPr/>
        </p:nvSpPr>
        <p:spPr>
          <a:xfrm>
            <a:off x="7182460" y="2019289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3" name="Explosion: 8 Points 52">
            <a:extLst>
              <a:ext uri="{FF2B5EF4-FFF2-40B4-BE49-F238E27FC236}">
                <a16:creationId xmlns:a16="http://schemas.microsoft.com/office/drawing/2014/main" id="{06A80FE7-6C21-4868-B568-13AE485F2B17}"/>
              </a:ext>
            </a:extLst>
          </p:cNvPr>
          <p:cNvSpPr/>
          <p:nvPr/>
        </p:nvSpPr>
        <p:spPr>
          <a:xfrm>
            <a:off x="7285017" y="201067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4" name="Explosion: 8 Points 53">
            <a:extLst>
              <a:ext uri="{FF2B5EF4-FFF2-40B4-BE49-F238E27FC236}">
                <a16:creationId xmlns:a16="http://schemas.microsoft.com/office/drawing/2014/main" id="{CD4EC6B7-2A77-467B-AFE0-27ECB2C74B41}"/>
              </a:ext>
            </a:extLst>
          </p:cNvPr>
          <p:cNvSpPr/>
          <p:nvPr/>
        </p:nvSpPr>
        <p:spPr>
          <a:xfrm>
            <a:off x="7090592" y="1869949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5" name="Explosion: 8 Points 54">
            <a:extLst>
              <a:ext uri="{FF2B5EF4-FFF2-40B4-BE49-F238E27FC236}">
                <a16:creationId xmlns:a16="http://schemas.microsoft.com/office/drawing/2014/main" id="{657D411E-B053-40D1-BFF6-603C7B97985A}"/>
              </a:ext>
            </a:extLst>
          </p:cNvPr>
          <p:cNvSpPr/>
          <p:nvPr/>
        </p:nvSpPr>
        <p:spPr>
          <a:xfrm>
            <a:off x="7023783" y="1747674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6" name="Explosion: 8 Points 55">
            <a:extLst>
              <a:ext uri="{FF2B5EF4-FFF2-40B4-BE49-F238E27FC236}">
                <a16:creationId xmlns:a16="http://schemas.microsoft.com/office/drawing/2014/main" id="{E42F77D2-BE0C-49C2-AA5A-1FF27C46E767}"/>
              </a:ext>
            </a:extLst>
          </p:cNvPr>
          <p:cNvSpPr/>
          <p:nvPr/>
        </p:nvSpPr>
        <p:spPr>
          <a:xfrm>
            <a:off x="7175084" y="1727997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7" name="Explosion: 8 Points 56">
            <a:extLst>
              <a:ext uri="{FF2B5EF4-FFF2-40B4-BE49-F238E27FC236}">
                <a16:creationId xmlns:a16="http://schemas.microsoft.com/office/drawing/2014/main" id="{AABD498A-6448-442E-BCB9-0B3359335A10}"/>
              </a:ext>
            </a:extLst>
          </p:cNvPr>
          <p:cNvSpPr/>
          <p:nvPr/>
        </p:nvSpPr>
        <p:spPr>
          <a:xfrm>
            <a:off x="7718012" y="5275860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8" name="Explosion: 8 Points 57">
            <a:extLst>
              <a:ext uri="{FF2B5EF4-FFF2-40B4-BE49-F238E27FC236}">
                <a16:creationId xmlns:a16="http://schemas.microsoft.com/office/drawing/2014/main" id="{672682A5-65D1-4A44-85E0-56629891AE00}"/>
              </a:ext>
            </a:extLst>
          </p:cNvPr>
          <p:cNvSpPr/>
          <p:nvPr/>
        </p:nvSpPr>
        <p:spPr>
          <a:xfrm>
            <a:off x="7751501" y="5190760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9" name="Explosion: 8 Points 58">
            <a:extLst>
              <a:ext uri="{FF2B5EF4-FFF2-40B4-BE49-F238E27FC236}">
                <a16:creationId xmlns:a16="http://schemas.microsoft.com/office/drawing/2014/main" id="{16BA0EAB-CD51-497D-8FFB-312C97E6DE52}"/>
              </a:ext>
            </a:extLst>
          </p:cNvPr>
          <p:cNvSpPr/>
          <p:nvPr/>
        </p:nvSpPr>
        <p:spPr>
          <a:xfrm>
            <a:off x="7600641" y="5336756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0" name="Explosion: 8 Points 59">
            <a:extLst>
              <a:ext uri="{FF2B5EF4-FFF2-40B4-BE49-F238E27FC236}">
                <a16:creationId xmlns:a16="http://schemas.microsoft.com/office/drawing/2014/main" id="{E5C3029C-AC5A-4DF5-ACF8-9EB9741133FE}"/>
              </a:ext>
            </a:extLst>
          </p:cNvPr>
          <p:cNvSpPr/>
          <p:nvPr/>
        </p:nvSpPr>
        <p:spPr>
          <a:xfrm>
            <a:off x="7667927" y="4833425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1" name="Explosion: 8 Points 60">
            <a:extLst>
              <a:ext uri="{FF2B5EF4-FFF2-40B4-BE49-F238E27FC236}">
                <a16:creationId xmlns:a16="http://schemas.microsoft.com/office/drawing/2014/main" id="{A6FCFB75-92BA-482B-9874-C4DE353892B4}"/>
              </a:ext>
            </a:extLst>
          </p:cNvPr>
          <p:cNvSpPr/>
          <p:nvPr/>
        </p:nvSpPr>
        <p:spPr>
          <a:xfrm>
            <a:off x="3071348" y="5304494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2" name="Explosion: 8 Points 61">
            <a:extLst>
              <a:ext uri="{FF2B5EF4-FFF2-40B4-BE49-F238E27FC236}">
                <a16:creationId xmlns:a16="http://schemas.microsoft.com/office/drawing/2014/main" id="{EC600B89-F5B0-4DD3-88A8-732FDA9DE79C}"/>
              </a:ext>
            </a:extLst>
          </p:cNvPr>
          <p:cNvSpPr/>
          <p:nvPr/>
        </p:nvSpPr>
        <p:spPr>
          <a:xfrm>
            <a:off x="4984028" y="5668292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3" name="Explosion: 8 Points 62">
            <a:extLst>
              <a:ext uri="{FF2B5EF4-FFF2-40B4-BE49-F238E27FC236}">
                <a16:creationId xmlns:a16="http://schemas.microsoft.com/office/drawing/2014/main" id="{3F40D9C7-338D-4F0D-9B39-C72927EAA0EF}"/>
              </a:ext>
            </a:extLst>
          </p:cNvPr>
          <p:cNvSpPr/>
          <p:nvPr/>
        </p:nvSpPr>
        <p:spPr>
          <a:xfrm>
            <a:off x="7842759" y="5332129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4" name="Explosion: 8 Points 63">
            <a:extLst>
              <a:ext uri="{FF2B5EF4-FFF2-40B4-BE49-F238E27FC236}">
                <a16:creationId xmlns:a16="http://schemas.microsoft.com/office/drawing/2014/main" id="{A9CC4E8F-2003-4161-9D7E-4DE5153B45A7}"/>
              </a:ext>
            </a:extLst>
          </p:cNvPr>
          <p:cNvSpPr/>
          <p:nvPr/>
        </p:nvSpPr>
        <p:spPr>
          <a:xfrm>
            <a:off x="7297988" y="5435992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5" name="Explosion: 8 Points 64">
            <a:extLst>
              <a:ext uri="{FF2B5EF4-FFF2-40B4-BE49-F238E27FC236}">
                <a16:creationId xmlns:a16="http://schemas.microsoft.com/office/drawing/2014/main" id="{698DFE3C-DA0E-447A-A2EE-A121CA38357A}"/>
              </a:ext>
            </a:extLst>
          </p:cNvPr>
          <p:cNvSpPr/>
          <p:nvPr/>
        </p:nvSpPr>
        <p:spPr>
          <a:xfrm>
            <a:off x="7930939" y="5165585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6" name="Explosion: 8 Points 65">
            <a:extLst>
              <a:ext uri="{FF2B5EF4-FFF2-40B4-BE49-F238E27FC236}">
                <a16:creationId xmlns:a16="http://schemas.microsoft.com/office/drawing/2014/main" id="{805F8962-41E1-4BA3-B6A4-A602AFECB088}"/>
              </a:ext>
            </a:extLst>
          </p:cNvPr>
          <p:cNvSpPr/>
          <p:nvPr/>
        </p:nvSpPr>
        <p:spPr>
          <a:xfrm>
            <a:off x="7833847" y="5045760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7" name="Explosion: 8 Points 66">
            <a:extLst>
              <a:ext uri="{FF2B5EF4-FFF2-40B4-BE49-F238E27FC236}">
                <a16:creationId xmlns:a16="http://schemas.microsoft.com/office/drawing/2014/main" id="{FD61E424-3F01-45B0-87B7-AF8A8E977756}"/>
              </a:ext>
            </a:extLst>
          </p:cNvPr>
          <p:cNvSpPr/>
          <p:nvPr/>
        </p:nvSpPr>
        <p:spPr>
          <a:xfrm>
            <a:off x="4847297" y="4526819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8" name="Explosion: 8 Points 67">
            <a:extLst>
              <a:ext uri="{FF2B5EF4-FFF2-40B4-BE49-F238E27FC236}">
                <a16:creationId xmlns:a16="http://schemas.microsoft.com/office/drawing/2014/main" id="{27C434FC-58F1-48D9-905B-6C8567421262}"/>
              </a:ext>
            </a:extLst>
          </p:cNvPr>
          <p:cNvSpPr/>
          <p:nvPr/>
        </p:nvSpPr>
        <p:spPr>
          <a:xfrm>
            <a:off x="4310211" y="5281444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69" name="Explosion: 8 Points 68">
            <a:extLst>
              <a:ext uri="{FF2B5EF4-FFF2-40B4-BE49-F238E27FC236}">
                <a16:creationId xmlns:a16="http://schemas.microsoft.com/office/drawing/2014/main" id="{2066F514-DE1D-4FCB-A74F-76688DAA1650}"/>
              </a:ext>
            </a:extLst>
          </p:cNvPr>
          <p:cNvSpPr/>
          <p:nvPr/>
        </p:nvSpPr>
        <p:spPr>
          <a:xfrm>
            <a:off x="3912471" y="6022854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0" name="Explosion: 8 Points 69">
            <a:extLst>
              <a:ext uri="{FF2B5EF4-FFF2-40B4-BE49-F238E27FC236}">
                <a16:creationId xmlns:a16="http://schemas.microsoft.com/office/drawing/2014/main" id="{2A3B8EEF-2DC2-4FD6-B008-E8723FDFF23B}"/>
              </a:ext>
            </a:extLst>
          </p:cNvPr>
          <p:cNvSpPr/>
          <p:nvPr/>
        </p:nvSpPr>
        <p:spPr>
          <a:xfrm>
            <a:off x="3326988" y="578565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1" name="Explosion: 8 Points 70">
            <a:extLst>
              <a:ext uri="{FF2B5EF4-FFF2-40B4-BE49-F238E27FC236}">
                <a16:creationId xmlns:a16="http://schemas.microsoft.com/office/drawing/2014/main" id="{A897765E-4B62-4A04-B755-36591C1CCDF4}"/>
              </a:ext>
            </a:extLst>
          </p:cNvPr>
          <p:cNvSpPr/>
          <p:nvPr/>
        </p:nvSpPr>
        <p:spPr>
          <a:xfrm>
            <a:off x="5079584" y="5249182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2" name="Explosion: 8 Points 71">
            <a:extLst>
              <a:ext uri="{FF2B5EF4-FFF2-40B4-BE49-F238E27FC236}">
                <a16:creationId xmlns:a16="http://schemas.microsoft.com/office/drawing/2014/main" id="{97C3238B-33ED-415F-87BF-085A94FD7EDD}"/>
              </a:ext>
            </a:extLst>
          </p:cNvPr>
          <p:cNvSpPr/>
          <p:nvPr/>
        </p:nvSpPr>
        <p:spPr>
          <a:xfrm>
            <a:off x="4791385" y="6156203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3" name="Explosion: 8 Points 72">
            <a:extLst>
              <a:ext uri="{FF2B5EF4-FFF2-40B4-BE49-F238E27FC236}">
                <a16:creationId xmlns:a16="http://schemas.microsoft.com/office/drawing/2014/main" id="{AE0C777E-4532-47BD-AA13-AECDE829F3DF}"/>
              </a:ext>
            </a:extLst>
          </p:cNvPr>
          <p:cNvSpPr/>
          <p:nvPr/>
        </p:nvSpPr>
        <p:spPr>
          <a:xfrm>
            <a:off x="3762990" y="5120744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4" name="Explosion: 8 Points 73">
            <a:extLst>
              <a:ext uri="{FF2B5EF4-FFF2-40B4-BE49-F238E27FC236}">
                <a16:creationId xmlns:a16="http://schemas.microsoft.com/office/drawing/2014/main" id="{2E60A378-54CB-4D0B-8808-34EE026FF5F0}"/>
              </a:ext>
            </a:extLst>
          </p:cNvPr>
          <p:cNvSpPr/>
          <p:nvPr/>
        </p:nvSpPr>
        <p:spPr>
          <a:xfrm>
            <a:off x="4030606" y="4629116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5" name="Explosion: 8 Points 74">
            <a:extLst>
              <a:ext uri="{FF2B5EF4-FFF2-40B4-BE49-F238E27FC236}">
                <a16:creationId xmlns:a16="http://schemas.microsoft.com/office/drawing/2014/main" id="{CFCF0ACF-1CE4-49CA-9A14-46BBD6FC5070}"/>
              </a:ext>
            </a:extLst>
          </p:cNvPr>
          <p:cNvSpPr/>
          <p:nvPr/>
        </p:nvSpPr>
        <p:spPr>
          <a:xfrm>
            <a:off x="4532364" y="5065432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6" name="Explosion: 8 Points 75">
            <a:extLst>
              <a:ext uri="{FF2B5EF4-FFF2-40B4-BE49-F238E27FC236}">
                <a16:creationId xmlns:a16="http://schemas.microsoft.com/office/drawing/2014/main" id="{5F0D55FD-39F1-4EF0-AF63-A3810C159662}"/>
              </a:ext>
            </a:extLst>
          </p:cNvPr>
          <p:cNvSpPr/>
          <p:nvPr/>
        </p:nvSpPr>
        <p:spPr>
          <a:xfrm>
            <a:off x="4310211" y="4163340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7" name="Explosion: 8 Points 76">
            <a:extLst>
              <a:ext uri="{FF2B5EF4-FFF2-40B4-BE49-F238E27FC236}">
                <a16:creationId xmlns:a16="http://schemas.microsoft.com/office/drawing/2014/main" id="{004715A0-7287-4104-BC66-0EA1E57F7663}"/>
              </a:ext>
            </a:extLst>
          </p:cNvPr>
          <p:cNvSpPr/>
          <p:nvPr/>
        </p:nvSpPr>
        <p:spPr>
          <a:xfrm>
            <a:off x="3735491" y="474958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8" name="Explosion: 8 Points 77">
            <a:extLst>
              <a:ext uri="{FF2B5EF4-FFF2-40B4-BE49-F238E27FC236}">
                <a16:creationId xmlns:a16="http://schemas.microsoft.com/office/drawing/2014/main" id="{5952806F-C966-4CF6-9767-A6E233F12B8A}"/>
              </a:ext>
            </a:extLst>
          </p:cNvPr>
          <p:cNvSpPr/>
          <p:nvPr/>
        </p:nvSpPr>
        <p:spPr>
          <a:xfrm>
            <a:off x="4430046" y="5497455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9" name="Explosion: 8 Points 78">
            <a:extLst>
              <a:ext uri="{FF2B5EF4-FFF2-40B4-BE49-F238E27FC236}">
                <a16:creationId xmlns:a16="http://schemas.microsoft.com/office/drawing/2014/main" id="{AA7735C6-F9EF-4ED8-87E9-022887809637}"/>
              </a:ext>
            </a:extLst>
          </p:cNvPr>
          <p:cNvSpPr/>
          <p:nvPr/>
        </p:nvSpPr>
        <p:spPr>
          <a:xfrm>
            <a:off x="4107121" y="5067917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0" name="Explosion: 8 Points 79">
            <a:extLst>
              <a:ext uri="{FF2B5EF4-FFF2-40B4-BE49-F238E27FC236}">
                <a16:creationId xmlns:a16="http://schemas.microsoft.com/office/drawing/2014/main" id="{49C9386F-C048-4CE5-BDD5-425861D10160}"/>
              </a:ext>
            </a:extLst>
          </p:cNvPr>
          <p:cNvSpPr/>
          <p:nvPr/>
        </p:nvSpPr>
        <p:spPr>
          <a:xfrm>
            <a:off x="3853478" y="5456269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1" name="Explosion: 8 Points 80">
            <a:extLst>
              <a:ext uri="{FF2B5EF4-FFF2-40B4-BE49-F238E27FC236}">
                <a16:creationId xmlns:a16="http://schemas.microsoft.com/office/drawing/2014/main" id="{FAB717F5-2BD1-4B9A-95EE-65F9E4C6BEAC}"/>
              </a:ext>
            </a:extLst>
          </p:cNvPr>
          <p:cNvSpPr/>
          <p:nvPr/>
        </p:nvSpPr>
        <p:spPr>
          <a:xfrm>
            <a:off x="7726921" y="5566893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2" name="Explosion: 8 Points 81">
            <a:extLst>
              <a:ext uri="{FF2B5EF4-FFF2-40B4-BE49-F238E27FC236}">
                <a16:creationId xmlns:a16="http://schemas.microsoft.com/office/drawing/2014/main" id="{7DDA3F6E-BEA2-4FF2-9457-8BA92BB8DDF0}"/>
              </a:ext>
            </a:extLst>
          </p:cNvPr>
          <p:cNvSpPr/>
          <p:nvPr/>
        </p:nvSpPr>
        <p:spPr>
          <a:xfrm>
            <a:off x="7608934" y="5045760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3" name="Explosion: 8 Points 82">
            <a:extLst>
              <a:ext uri="{FF2B5EF4-FFF2-40B4-BE49-F238E27FC236}">
                <a16:creationId xmlns:a16="http://schemas.microsoft.com/office/drawing/2014/main" id="{DB7AE35E-1998-4E83-9B59-54B9CCCE359F}"/>
              </a:ext>
            </a:extLst>
          </p:cNvPr>
          <p:cNvSpPr/>
          <p:nvPr/>
        </p:nvSpPr>
        <p:spPr>
          <a:xfrm>
            <a:off x="7633514" y="5249182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4" name="Explosion: 8 Points 83">
            <a:extLst>
              <a:ext uri="{FF2B5EF4-FFF2-40B4-BE49-F238E27FC236}">
                <a16:creationId xmlns:a16="http://schemas.microsoft.com/office/drawing/2014/main" id="{029D4295-C2F1-48C4-82E0-B9BF54742112}"/>
              </a:ext>
            </a:extLst>
          </p:cNvPr>
          <p:cNvSpPr/>
          <p:nvPr/>
        </p:nvSpPr>
        <p:spPr>
          <a:xfrm>
            <a:off x="7574521" y="5193870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5" name="Explosion: 8 Points 84">
            <a:extLst>
              <a:ext uri="{FF2B5EF4-FFF2-40B4-BE49-F238E27FC236}">
                <a16:creationId xmlns:a16="http://schemas.microsoft.com/office/drawing/2014/main" id="{3513AD64-CE96-4336-9A7A-022C52DF3615}"/>
              </a:ext>
            </a:extLst>
          </p:cNvPr>
          <p:cNvSpPr/>
          <p:nvPr/>
        </p:nvSpPr>
        <p:spPr>
          <a:xfrm>
            <a:off x="3861443" y="1900047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6" name="Explosion: 8 Points 85">
            <a:extLst>
              <a:ext uri="{FF2B5EF4-FFF2-40B4-BE49-F238E27FC236}">
                <a16:creationId xmlns:a16="http://schemas.microsoft.com/office/drawing/2014/main" id="{FDAF42C0-E0AD-44E2-B2CC-AB8ADAA45F29}"/>
              </a:ext>
            </a:extLst>
          </p:cNvPr>
          <p:cNvSpPr/>
          <p:nvPr/>
        </p:nvSpPr>
        <p:spPr>
          <a:xfrm>
            <a:off x="3390965" y="1944581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7" name="Explosion: 8 Points 86">
            <a:extLst>
              <a:ext uri="{FF2B5EF4-FFF2-40B4-BE49-F238E27FC236}">
                <a16:creationId xmlns:a16="http://schemas.microsoft.com/office/drawing/2014/main" id="{7B0DFCEB-401E-41F4-9721-09522FA9F754}"/>
              </a:ext>
            </a:extLst>
          </p:cNvPr>
          <p:cNvSpPr/>
          <p:nvPr/>
        </p:nvSpPr>
        <p:spPr>
          <a:xfrm>
            <a:off x="3395813" y="819154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8" name="Explosion: 8 Points 87">
            <a:extLst>
              <a:ext uri="{FF2B5EF4-FFF2-40B4-BE49-F238E27FC236}">
                <a16:creationId xmlns:a16="http://schemas.microsoft.com/office/drawing/2014/main" id="{BC974A57-190B-4291-A03F-8D69FF5BB7B0}"/>
              </a:ext>
            </a:extLst>
          </p:cNvPr>
          <p:cNvSpPr/>
          <p:nvPr/>
        </p:nvSpPr>
        <p:spPr>
          <a:xfrm>
            <a:off x="3720039" y="1351898"/>
            <a:ext cx="117987" cy="110624"/>
          </a:xfrm>
          <a:prstGeom prst="irregularSeal1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04680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DB17FA-B006-4D0C-8EBB-53845979605B}"/>
              </a:ext>
            </a:extLst>
          </p:cNvPr>
          <p:cNvSpPr/>
          <p:nvPr/>
        </p:nvSpPr>
        <p:spPr>
          <a:xfrm>
            <a:off x="855406" y="347641"/>
            <a:ext cx="5240594" cy="33429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Target Population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NZ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BD21D5-A4D4-439E-B15A-68D502F1B396}"/>
              </a:ext>
            </a:extLst>
          </p:cNvPr>
          <p:cNvSpPr/>
          <p:nvPr/>
        </p:nvSpPr>
        <p:spPr>
          <a:xfrm>
            <a:off x="2757949" y="1245450"/>
            <a:ext cx="5240594" cy="4890319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F79E4-EE76-4AF0-A2AF-AA806CED77CB}"/>
              </a:ext>
            </a:extLst>
          </p:cNvPr>
          <p:cNvSpPr txBox="1"/>
          <p:nvPr/>
        </p:nvSpPr>
        <p:spPr>
          <a:xfrm>
            <a:off x="4463845" y="3167390"/>
            <a:ext cx="2257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Sample Frame</a:t>
            </a:r>
            <a:endParaRPr lang="en-NZ" sz="2800" dirty="0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2428F-1A61-4657-B4DD-800AA1E5B567}"/>
              </a:ext>
            </a:extLst>
          </p:cNvPr>
          <p:cNvSpPr txBox="1"/>
          <p:nvPr/>
        </p:nvSpPr>
        <p:spPr>
          <a:xfrm>
            <a:off x="3691194" y="2189164"/>
            <a:ext cx="17611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Survey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</a:rPr>
              <a:t>Population</a:t>
            </a:r>
            <a:endParaRPr lang="en-NZ" sz="28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81FB9-27CC-4790-B040-52AEA213DDCB}"/>
              </a:ext>
            </a:extLst>
          </p:cNvPr>
          <p:cNvSpPr txBox="1"/>
          <p:nvPr/>
        </p:nvSpPr>
        <p:spPr>
          <a:xfrm>
            <a:off x="1104910" y="2666218"/>
            <a:ext cx="10272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Out of 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coverage</a:t>
            </a:r>
            <a:endParaRPr lang="en-NZ" dirty="0">
              <a:solidFill>
                <a:srgbClr val="FFFF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871D30-57C8-4A6C-A25E-7F4CD640C7DA}"/>
              </a:ext>
            </a:extLst>
          </p:cNvPr>
          <p:cNvSpPr txBox="1"/>
          <p:nvPr/>
        </p:nvSpPr>
        <p:spPr>
          <a:xfrm>
            <a:off x="4501271" y="1318660"/>
            <a:ext cx="1421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In scope and </a:t>
            </a:r>
          </a:p>
          <a:p>
            <a:pPr algn="ctr"/>
            <a:r>
              <a:rPr lang="en-US" dirty="0">
                <a:solidFill>
                  <a:srgbClr val="FFFF00"/>
                </a:solidFill>
              </a:rPr>
              <a:t>In coverage</a:t>
            </a:r>
            <a:endParaRPr lang="en-NZ" dirty="0">
              <a:solidFill>
                <a:srgbClr val="FFFF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855921-1860-4A0B-AD98-BC06FF2344B7}"/>
              </a:ext>
            </a:extLst>
          </p:cNvPr>
          <p:cNvSpPr txBox="1"/>
          <p:nvPr/>
        </p:nvSpPr>
        <p:spPr>
          <a:xfrm>
            <a:off x="4987754" y="5178332"/>
            <a:ext cx="7809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 of</a:t>
            </a:r>
            <a:br>
              <a:rPr lang="en-US" dirty="0"/>
            </a:br>
            <a:r>
              <a:rPr lang="en-US" dirty="0"/>
              <a:t>scope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5758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DB17FA-B006-4D0C-8EBB-53845979605B}"/>
              </a:ext>
            </a:extLst>
          </p:cNvPr>
          <p:cNvSpPr/>
          <p:nvPr/>
        </p:nvSpPr>
        <p:spPr>
          <a:xfrm>
            <a:off x="3227098" y="1846007"/>
            <a:ext cx="1236747" cy="9087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Target Population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Target</a:t>
            </a:r>
          </a:p>
          <a:p>
            <a:pPr algn="ctr"/>
            <a:r>
              <a:rPr lang="en-US" dirty="0"/>
              <a:t>Population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NZ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9BD21D5-A4D4-439E-B15A-68D502F1B396}"/>
              </a:ext>
            </a:extLst>
          </p:cNvPr>
          <p:cNvSpPr/>
          <p:nvPr/>
        </p:nvSpPr>
        <p:spPr>
          <a:xfrm>
            <a:off x="2757949" y="1245450"/>
            <a:ext cx="5240594" cy="4890319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2F79E4-EE76-4AF0-A2AF-AA806CED77CB}"/>
              </a:ext>
            </a:extLst>
          </p:cNvPr>
          <p:cNvSpPr txBox="1"/>
          <p:nvPr/>
        </p:nvSpPr>
        <p:spPr>
          <a:xfrm>
            <a:off x="4345858" y="3428999"/>
            <a:ext cx="2257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C000"/>
                </a:solidFill>
              </a:rPr>
              <a:t>Sample Frame</a:t>
            </a:r>
            <a:endParaRPr lang="en-NZ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62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375</Words>
  <Application>Microsoft Office PowerPoint</Application>
  <PresentationFormat>Widescreen</PresentationFormat>
  <Paragraphs>107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Arnold</dc:creator>
  <cp:lastModifiedBy>Richard Arnold</cp:lastModifiedBy>
  <cp:revision>17</cp:revision>
  <dcterms:created xsi:type="dcterms:W3CDTF">2020-04-24T02:27:17Z</dcterms:created>
  <dcterms:modified xsi:type="dcterms:W3CDTF">2022-03-02T20:12:00Z</dcterms:modified>
</cp:coreProperties>
</file>