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596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51C85-47A4-4C82-8296-AAF95541A3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8FCF1-CF4B-423E-AEFB-70E981513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3363-B222-4555-9489-1579D4B8E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A76E5-AF41-4269-8D98-166EAD5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A9429-0553-44F7-9791-7CA803B06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585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99DC-3E57-42F4-B0E4-BC8F5D47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11D85-6380-4ED7-8C08-7EFA5AAB8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FAEE4-6F6A-4F1F-BD6A-5B8DC150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0700C-95BD-428B-A0C6-E45F4FC96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BACB7-6B9D-4A30-9F8A-F722C24A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37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A87DE-0597-4655-9FED-19E63A758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116F1-01CA-4368-972C-7C0D966DE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48424-4FFF-48AD-AC6E-FCD27891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645C-7730-4031-AC92-C4ADBEA92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CF89-C173-4AC6-82A1-4EB6EABA6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93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C8CC0-A44E-48FC-84FA-D6110C3C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976FB-6C85-4A89-91F4-A3B92B792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E2010-5CE4-4855-8888-57B34AD0D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6036C5-EB48-4489-B46E-63E0CA33A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2D6B8C-076E-4974-B822-9DE5CF26C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98193-CD96-4B8B-9951-258D87AEA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16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7283-20E8-4111-AF04-7F5BD2290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1D45F-2819-4770-A8A0-7435B6B1B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6D273A-A946-4C90-89D9-7F7A7297D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765138-9C0D-4034-AE99-D600B9388D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324625-6CFA-4F9C-9833-08DE6235E2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B252C-33BB-4054-8933-7D167CBFB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F2B517-8397-4653-875C-806B0096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326E55-FFC1-4CA3-98F9-D737817B0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999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F2D2-F194-421A-A259-DDE49AE95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F4EC4-4B38-4763-A1C0-6091F125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3BDB7-14C0-4A18-8E14-63306E218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227C0-42A6-430D-BBC4-FCF00502C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224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6FE6FD-8852-497B-BB5A-3728A4E9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971687-D2B8-4B70-8C48-5A374BFB5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2F4D5-E245-4199-B51F-3C777D3B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4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D1B6B-4134-4E00-8DC9-83F4C5141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38E4C-8FD3-4145-BB63-603ED8EE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ECE2C8-70E0-495F-BE4F-207C2721D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1C90C8-B42F-4D2A-A1D4-DA62E752C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42D2E-4754-4E6E-9873-DE4A7B319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330AEF-8E8E-4F4C-9E91-6E3AA3DA3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77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1D1-DA26-40CA-BFE9-FC3A77C19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B66CA4-ECF9-4DA8-8224-56331FF113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9A4AC-499B-423D-9BCC-3C22F3504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20D40-ECA6-42E7-A463-D1F3C5C1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60698-ACDF-47E7-8685-E2B348E14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C1D1A-2725-493C-A2C2-13ACA447B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7845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91B57-4377-4CE8-9D2B-55A5C9422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72EDF-0597-4B19-B417-BD1C4EC89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B170F-4F19-45DF-BBB5-4654433B7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99E34-88D1-48C1-9E85-B3BB57CA2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700DF-5CF0-4E0D-B025-24081E7B1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178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336C1A-FC38-4CC8-9C18-5AC3BDEDC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D472E-509B-4D0E-A793-CFC4F526B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689B5-7F92-49B8-8914-737BC6E1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31889-154C-42A5-B60C-7CDD1573B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F312-7F18-4DA9-8967-04BA10607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85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7EE1E8-0D08-4E05-9E9A-AEE84466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06DA4-557F-4F21-825E-CECFD4D18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F4D6F-C17F-4E0A-832D-5394AC873D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C373-98A3-4876-B8FE-FEB4A308698B}" type="datetimeFigureOut">
              <a:rPr lang="en-GB" smtClean="0"/>
              <a:t>03/05/2026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BCE55-5B15-4D62-96FC-25E92CE395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E9267-6B9B-4B2F-A8CF-DCCECBCE2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96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varsitytutors.com/common_core_high_school__statistics_and_probability-help/fitting-data-sets-to-normal-distribution-and-estimating-area-under-the-curve-ccss-math-content-hss-id-a-4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5342427" y="208721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Census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1928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every unit</a:t>
            </a:r>
          </a:p>
          <a:p>
            <a:r>
              <a:rPr lang="en-US" dirty="0"/>
              <a:t>in the population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087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794728" y="168965"/>
            <a:ext cx="46025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1788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any</a:t>
            </a:r>
          </a:p>
          <a:p>
            <a:r>
              <a:rPr lang="en-US" dirty="0"/>
              <a:t>combination of </a:t>
            </a:r>
          </a:p>
          <a:p>
            <a:r>
              <a:rPr lang="en-US" i="1" dirty="0"/>
              <a:t>n</a:t>
            </a:r>
            <a:r>
              <a:rPr lang="en-US" dirty="0"/>
              <a:t> units being equally </a:t>
            </a:r>
          </a:p>
          <a:p>
            <a:r>
              <a:rPr lang="en-US" dirty="0"/>
              <a:t>likely to be selected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312787" y="283279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104822" y="318052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895560" y="532074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3973" y="26139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7827065" y="12128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97291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742583" y="468133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198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65A67-FED5-22C1-D796-35DD8225F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C07663-2CC8-A952-D050-591A728A26AF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E9511D-2212-9CC0-2F7C-16C919D9779B}"/>
              </a:ext>
            </a:extLst>
          </p:cNvPr>
          <p:cNvSpPr txBox="1"/>
          <p:nvPr/>
        </p:nvSpPr>
        <p:spPr>
          <a:xfrm>
            <a:off x="3005794" y="185386"/>
            <a:ext cx="6601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Linear Systematic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6C2307-E4DD-24D0-CF1E-3A7C34BC1D1E}"/>
              </a:ext>
            </a:extLst>
          </p:cNvPr>
          <p:cNvSpPr txBox="1"/>
          <p:nvPr/>
        </p:nvSpPr>
        <p:spPr>
          <a:xfrm>
            <a:off x="9124122" y="2594113"/>
            <a:ext cx="200189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with a</a:t>
            </a:r>
          </a:p>
          <a:p>
            <a:r>
              <a:rPr lang="en-US" dirty="0"/>
              <a:t>fixed skip k=N/n</a:t>
            </a:r>
            <a:br>
              <a:rPr lang="en-US" dirty="0"/>
            </a:br>
            <a:r>
              <a:rPr lang="en-US" dirty="0"/>
              <a:t>after selecting the </a:t>
            </a:r>
          </a:p>
          <a:p>
            <a:r>
              <a:rPr lang="en-US" dirty="0"/>
              <a:t>first unit at random</a:t>
            </a:r>
            <a:br>
              <a:rPr lang="en-US" dirty="0"/>
            </a:br>
            <a:r>
              <a:rPr lang="en-US" dirty="0"/>
              <a:t>from the first k in </a:t>
            </a:r>
            <a:br>
              <a:rPr lang="en-US" dirty="0"/>
            </a:br>
            <a:r>
              <a:rPr lang="en-US" dirty="0"/>
              <a:t>the population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74BBFAC-9906-419F-EDD2-C48FF8263096}"/>
              </a:ext>
            </a:extLst>
          </p:cNvPr>
          <p:cNvSpPr/>
          <p:nvPr/>
        </p:nvSpPr>
        <p:spPr>
          <a:xfrm>
            <a:off x="4325579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4A56E6-7851-C5A3-A129-C7D3697916A5}"/>
              </a:ext>
            </a:extLst>
          </p:cNvPr>
          <p:cNvSpPr/>
          <p:nvPr/>
        </p:nvSpPr>
        <p:spPr>
          <a:xfrm>
            <a:off x="6713953" y="522079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0ADCCC-3DCA-7788-0402-3DAD842B1ABC}"/>
              </a:ext>
            </a:extLst>
          </p:cNvPr>
          <p:cNvSpPr/>
          <p:nvPr/>
        </p:nvSpPr>
        <p:spPr>
          <a:xfrm>
            <a:off x="3808653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70B2DB-953D-1D3C-1B10-FBB88BBC8E19}"/>
              </a:ext>
            </a:extLst>
          </p:cNvPr>
          <p:cNvSpPr/>
          <p:nvPr/>
        </p:nvSpPr>
        <p:spPr>
          <a:xfrm>
            <a:off x="8077052" y="298165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3940C4-BC8B-F5D6-DE37-4551C8CA1B15}"/>
              </a:ext>
            </a:extLst>
          </p:cNvPr>
          <p:cNvSpPr/>
          <p:nvPr/>
        </p:nvSpPr>
        <p:spPr>
          <a:xfrm>
            <a:off x="687908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E40CB1-B624-DB83-2C8A-80DA1DF81C52}"/>
              </a:ext>
            </a:extLst>
          </p:cNvPr>
          <p:cNvSpPr/>
          <p:nvPr/>
        </p:nvSpPr>
        <p:spPr>
          <a:xfrm>
            <a:off x="3893135" y="451761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5D793E1-49AC-EF15-97A2-C4DABC4CBD68}"/>
              </a:ext>
            </a:extLst>
          </p:cNvPr>
          <p:cNvSpPr/>
          <p:nvPr/>
        </p:nvSpPr>
        <p:spPr>
          <a:xfrm>
            <a:off x="5811077" y="451525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D07F1D-1DD2-168D-1756-7F1D5A2CB411}"/>
              </a:ext>
            </a:extLst>
          </p:cNvPr>
          <p:cNvSpPr/>
          <p:nvPr/>
        </p:nvSpPr>
        <p:spPr>
          <a:xfrm>
            <a:off x="6541804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F2126D7-1CCC-A3CC-5DC3-108DDA958473}"/>
              </a:ext>
            </a:extLst>
          </p:cNvPr>
          <p:cNvSpPr/>
          <p:nvPr/>
        </p:nvSpPr>
        <p:spPr>
          <a:xfrm>
            <a:off x="4793664" y="52692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BEB9E00-4C4A-5664-1230-EEA00F3995DA}"/>
              </a:ext>
            </a:extLst>
          </p:cNvPr>
          <p:cNvSpPr/>
          <p:nvPr/>
        </p:nvSpPr>
        <p:spPr>
          <a:xfrm>
            <a:off x="5143505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7370120-2437-606F-AF2E-7046EB48EEB5}"/>
              </a:ext>
            </a:extLst>
          </p:cNvPr>
          <p:cNvSpPr/>
          <p:nvPr/>
        </p:nvSpPr>
        <p:spPr>
          <a:xfrm>
            <a:off x="6011516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0BF5A-63F5-4A2F-4413-86B81560DFE1}"/>
              </a:ext>
            </a:extLst>
          </p:cNvPr>
          <p:cNvSpPr/>
          <p:nvPr/>
        </p:nvSpPr>
        <p:spPr>
          <a:xfrm>
            <a:off x="7735150" y="450511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D26D84-2BE1-4F68-4DE9-71CA1EFA0972}"/>
              </a:ext>
            </a:extLst>
          </p:cNvPr>
          <p:cNvSpPr/>
          <p:nvPr/>
        </p:nvSpPr>
        <p:spPr>
          <a:xfrm>
            <a:off x="7298377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B9CA4F6-81D2-7435-10E1-DF7E582767BC}"/>
              </a:ext>
            </a:extLst>
          </p:cNvPr>
          <p:cNvSpPr/>
          <p:nvPr/>
        </p:nvSpPr>
        <p:spPr>
          <a:xfrm>
            <a:off x="479366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95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013003" y="208506"/>
            <a:ext cx="6417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Stratified 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(strata);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from every</a:t>
            </a:r>
          </a:p>
          <a:p>
            <a:r>
              <a:rPr lang="en-US" dirty="0"/>
              <a:t>stratum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88548" y="37404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369037" y="324829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3867977" y="542187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495800" y="49977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4846983" y="535560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738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05506" y="228275"/>
            <a:ext cx="4988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One-stage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</a:t>
            </a:r>
          </a:p>
          <a:p>
            <a:br>
              <a:rPr lang="en-US"/>
            </a:br>
            <a:r>
              <a:rPr lang="en-US"/>
              <a:t>and </a:t>
            </a:r>
            <a:r>
              <a:rPr lang="en-US" dirty="0"/>
              <a:t>then a census of</a:t>
            </a:r>
          </a:p>
          <a:p>
            <a:r>
              <a:rPr lang="en-US" dirty="0"/>
              <a:t>units in each selected</a:t>
            </a:r>
          </a:p>
          <a:p>
            <a:r>
              <a:rPr lang="en-US" dirty="0"/>
              <a:t>cluster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395CBA-D9E3-4827-B0C3-57BAE89730CE}"/>
              </a:ext>
            </a:extLst>
          </p:cNvPr>
          <p:cNvSpPr/>
          <p:nvPr/>
        </p:nvSpPr>
        <p:spPr>
          <a:xfrm>
            <a:off x="5294244" y="1063487"/>
            <a:ext cx="3221933" cy="155410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161B31-DE32-42DA-AD27-D89915F721C0}"/>
              </a:ext>
            </a:extLst>
          </p:cNvPr>
          <p:cNvSpPr/>
          <p:nvPr/>
        </p:nvSpPr>
        <p:spPr>
          <a:xfrm>
            <a:off x="3682932" y="2610390"/>
            <a:ext cx="3045849" cy="1878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A8B4E5-C6A0-428D-BAF2-B06C6ED5C0EC}"/>
              </a:ext>
            </a:extLst>
          </p:cNvPr>
          <p:cNvSpPr/>
          <p:nvPr/>
        </p:nvSpPr>
        <p:spPr>
          <a:xfrm>
            <a:off x="5257809" y="4495800"/>
            <a:ext cx="3258364" cy="12987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616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75821" y="221546"/>
            <a:ext cx="49840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Two 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and then a Simple</a:t>
            </a:r>
            <a:br>
              <a:rPr lang="en-US" dirty="0"/>
            </a:br>
            <a:r>
              <a:rPr lang="en-US" dirty="0"/>
              <a:t>Random Sample of </a:t>
            </a:r>
            <a:br>
              <a:rPr lang="en-US" dirty="0"/>
            </a:br>
            <a:r>
              <a:rPr lang="en-US" dirty="0"/>
              <a:t>units within each </a:t>
            </a:r>
            <a:br>
              <a:rPr lang="en-US" dirty="0"/>
            </a:br>
            <a:r>
              <a:rPr lang="en-US" dirty="0"/>
              <a:t>selected cluster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966250" y="364024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6863799" y="163981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48791" y="12687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6019800" y="280960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5648739" y="325506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4526445" y="310763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221895" y="217832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328490" y="418603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6775175" y="515848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075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7DD5C1C-F653-4E43-B368-5B1DAD1CAECE}"/>
              </a:ext>
            </a:extLst>
          </p:cNvPr>
          <p:cNvSpPr txBox="1"/>
          <p:nvPr/>
        </p:nvSpPr>
        <p:spPr>
          <a:xfrm>
            <a:off x="9700591" y="703005"/>
            <a:ext cx="1272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Coverage error</a:t>
            </a:r>
            <a:br>
              <a:rPr lang="en-US" sz="1400" dirty="0"/>
            </a:br>
            <a:r>
              <a:rPr lang="en-US" sz="1400" dirty="0"/>
              <a:t>Frame Bias</a:t>
            </a:r>
            <a:endParaRPr lang="en-NZ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A58392-0EF1-4272-A797-97C2620E595A}"/>
              </a:ext>
            </a:extLst>
          </p:cNvPr>
          <p:cNvSpPr txBox="1"/>
          <p:nvPr/>
        </p:nvSpPr>
        <p:spPr>
          <a:xfrm>
            <a:off x="9700591" y="1506258"/>
            <a:ext cx="18144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Sampling Error</a:t>
            </a:r>
            <a:br>
              <a:rPr lang="en-US" sz="1400" dirty="0"/>
            </a:br>
            <a:r>
              <a:rPr lang="en-US" sz="1400" dirty="0"/>
              <a:t>Selection Bias</a:t>
            </a:r>
            <a:br>
              <a:rPr lang="en-US" sz="1400" dirty="0"/>
            </a:br>
            <a:r>
              <a:rPr lang="en-US" sz="1400" dirty="0"/>
              <a:t>Non-random selection</a:t>
            </a:r>
            <a:endParaRPr lang="en-NZ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F2DE0C-35B2-45A7-B957-B6FE20B6D3D8}"/>
              </a:ext>
            </a:extLst>
          </p:cNvPr>
          <p:cNvSpPr txBox="1"/>
          <p:nvPr/>
        </p:nvSpPr>
        <p:spPr>
          <a:xfrm>
            <a:off x="9700591" y="2541639"/>
            <a:ext cx="1485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Noncontact/</a:t>
            </a:r>
            <a:br>
              <a:rPr lang="en-US" sz="1400" dirty="0"/>
            </a:br>
            <a:r>
              <a:rPr lang="en-US" sz="1400" dirty="0"/>
              <a:t>Unit nonresponse</a:t>
            </a:r>
            <a:endParaRPr lang="en-NZ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C755D0-9598-4A19-A617-0DBEBF1ABE68}"/>
              </a:ext>
            </a:extLst>
          </p:cNvPr>
          <p:cNvSpPr txBox="1"/>
          <p:nvPr/>
        </p:nvSpPr>
        <p:spPr>
          <a:xfrm>
            <a:off x="4876800" y="1431994"/>
            <a:ext cx="17230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Validity</a:t>
            </a:r>
            <a:br>
              <a:rPr lang="en-US" sz="1400" dirty="0"/>
            </a:br>
            <a:r>
              <a:rPr lang="en-US" sz="1400" dirty="0"/>
              <a:t>Reliability</a:t>
            </a:r>
            <a:br>
              <a:rPr lang="en-US" sz="1400" dirty="0"/>
            </a:br>
            <a:r>
              <a:rPr lang="en-US" sz="1400" dirty="0"/>
              <a:t>(measurement error)</a:t>
            </a:r>
            <a:br>
              <a:rPr lang="en-US" sz="1400" dirty="0"/>
            </a:br>
            <a:r>
              <a:rPr lang="en-US" sz="1400" dirty="0"/>
              <a:t>Recall Bias</a:t>
            </a:r>
            <a:endParaRPr lang="en-NZ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5D6C8A-2C25-4562-8EFF-371CEA7423B9}"/>
              </a:ext>
            </a:extLst>
          </p:cNvPr>
          <p:cNvSpPr txBox="1"/>
          <p:nvPr/>
        </p:nvSpPr>
        <p:spPr>
          <a:xfrm>
            <a:off x="7344696" y="3313544"/>
            <a:ext cx="143571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Interviewer error</a:t>
            </a:r>
            <a:br>
              <a:rPr lang="en-US" sz="1400" dirty="0"/>
            </a:br>
            <a:r>
              <a:rPr lang="en-US" sz="1400" dirty="0"/>
              <a:t>False response</a:t>
            </a:r>
            <a:br>
              <a:rPr lang="en-US" sz="1400" dirty="0"/>
            </a:br>
            <a:r>
              <a:rPr lang="en-US" sz="1400" dirty="0"/>
              <a:t>Mode effect</a:t>
            </a:r>
            <a:endParaRPr lang="en-NZ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A15194-6613-454A-8CEE-E4665703A86C}"/>
              </a:ext>
            </a:extLst>
          </p:cNvPr>
          <p:cNvSpPr txBox="1"/>
          <p:nvPr/>
        </p:nvSpPr>
        <p:spPr>
          <a:xfrm>
            <a:off x="8928962" y="3488340"/>
            <a:ext cx="23165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Item non-response</a:t>
            </a:r>
            <a:br>
              <a:rPr lang="en-US" sz="1400" dirty="0"/>
            </a:br>
            <a:r>
              <a:rPr lang="en-US" sz="1400" dirty="0"/>
              <a:t>Current events/survey timing</a:t>
            </a:r>
            <a:endParaRPr lang="en-NZ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65C7FE-E2E8-4503-95B1-82085C8AA30E}"/>
              </a:ext>
            </a:extLst>
          </p:cNvPr>
          <p:cNvSpPr txBox="1"/>
          <p:nvPr/>
        </p:nvSpPr>
        <p:spPr>
          <a:xfrm>
            <a:off x="7375260" y="4138151"/>
            <a:ext cx="17628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Processing errors</a:t>
            </a:r>
            <a:br>
              <a:rPr lang="en-US" sz="1400" dirty="0"/>
            </a:br>
            <a:r>
              <a:rPr lang="en-US" sz="1400" dirty="0"/>
              <a:t>Coding, editing errors</a:t>
            </a:r>
            <a:endParaRPr lang="en-NZ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5924FC-22F4-4410-83C1-72BC20CC0E8D}"/>
              </a:ext>
            </a:extLst>
          </p:cNvPr>
          <p:cNvSpPr txBox="1"/>
          <p:nvPr/>
        </p:nvSpPr>
        <p:spPr>
          <a:xfrm>
            <a:off x="7344696" y="5631775"/>
            <a:ext cx="35484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Model error/misspecification</a:t>
            </a:r>
            <a:br>
              <a:rPr lang="en-US" sz="1400" dirty="0"/>
            </a:br>
            <a:r>
              <a:rPr lang="en-US" sz="1400" dirty="0"/>
              <a:t>Incorrect treatment of complex sample design</a:t>
            </a:r>
            <a:endParaRPr lang="en-NZ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A2B090-1D73-45C8-ACDE-001074BBD508}"/>
              </a:ext>
            </a:extLst>
          </p:cNvPr>
          <p:cNvSpPr txBox="1"/>
          <p:nvPr/>
        </p:nvSpPr>
        <p:spPr>
          <a:xfrm>
            <a:off x="7375260" y="4902699"/>
            <a:ext cx="23873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Adjustment errors</a:t>
            </a:r>
            <a:br>
              <a:rPr lang="en-US" sz="1400" dirty="0"/>
            </a:br>
            <a:r>
              <a:rPr lang="en-US" sz="1400" dirty="0"/>
              <a:t>Incorrect non-response model</a:t>
            </a:r>
            <a:endParaRPr lang="en-NZ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A96E19-6CE1-4DE8-B5B7-8F8AF97ED0C3}"/>
              </a:ext>
            </a:extLst>
          </p:cNvPr>
          <p:cNvSpPr txBox="1"/>
          <p:nvPr/>
        </p:nvSpPr>
        <p:spPr>
          <a:xfrm>
            <a:off x="7344696" y="6473053"/>
            <a:ext cx="2623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Incorrect interpretation of results</a:t>
            </a:r>
            <a:endParaRPr lang="en-NZ" sz="1400" dirty="0"/>
          </a:p>
        </p:txBody>
      </p:sp>
    </p:spTree>
    <p:extLst>
      <p:ext uri="{BB962C8B-B14F-4D97-AF65-F5344CB8AC3E}">
        <p14:creationId xmlns:p14="http://schemas.microsoft.com/office/powerpoint/2010/main" val="31373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221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4C8723-9162-4B64-8A9D-E23AB6BF613D}"/>
              </a:ext>
            </a:extLst>
          </p:cNvPr>
          <p:cNvSpPr/>
          <p:nvPr/>
        </p:nvSpPr>
        <p:spPr>
          <a:xfrm>
            <a:off x="629265" y="0"/>
            <a:ext cx="4876800" cy="30774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Population or process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NZ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BCA58-4189-4661-8091-0C071F881382}"/>
              </a:ext>
            </a:extLst>
          </p:cNvPr>
          <p:cNvSpPr txBox="1"/>
          <p:nvPr/>
        </p:nvSpPr>
        <p:spPr>
          <a:xfrm>
            <a:off x="4277341" y="1227183"/>
            <a:ext cx="1246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Observable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variables</a:t>
            </a:r>
            <a:endParaRPr lang="en-NZ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/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Population parameters  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…</m:t>
                    </m:r>
                  </m:oMath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blipFill>
                <a:blip r:embed="rId2"/>
                <a:stretch>
                  <a:fillRect l="-1768" t="-8197" b="-2459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58122F7-799C-4279-AF45-D397FFA6070A}"/>
              </a:ext>
            </a:extLst>
          </p:cNvPr>
          <p:cNvSpPr/>
          <p:nvPr/>
        </p:nvSpPr>
        <p:spPr>
          <a:xfrm>
            <a:off x="7757651" y="1061884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BCDC29-AAD1-4D92-BE83-BBF54AAC8BF7}"/>
              </a:ext>
            </a:extLst>
          </p:cNvPr>
          <p:cNvSpPr/>
          <p:nvPr/>
        </p:nvSpPr>
        <p:spPr>
          <a:xfrm>
            <a:off x="8136193" y="530801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536E0-EF5F-49D9-9F50-33D6C46686D7}"/>
              </a:ext>
            </a:extLst>
          </p:cNvPr>
          <p:cNvSpPr/>
          <p:nvPr/>
        </p:nvSpPr>
        <p:spPr>
          <a:xfrm>
            <a:off x="6641691" y="3059668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18EF65-1728-4EE1-9FFD-A8A1B8115251}"/>
              </a:ext>
            </a:extLst>
          </p:cNvPr>
          <p:cNvSpPr/>
          <p:nvPr/>
        </p:nvSpPr>
        <p:spPr>
          <a:xfrm>
            <a:off x="6964155" y="2533501"/>
            <a:ext cx="1592826" cy="36933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63B2DD-10F9-4B68-833B-B3DBCE7474FC}"/>
              </a:ext>
            </a:extLst>
          </p:cNvPr>
          <p:cNvSpPr/>
          <p:nvPr/>
        </p:nvSpPr>
        <p:spPr>
          <a:xfrm>
            <a:off x="7266038" y="2040816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86073-17AD-4A8A-80BB-CFC98A0FE0F4}"/>
              </a:ext>
            </a:extLst>
          </p:cNvPr>
          <p:cNvSpPr/>
          <p:nvPr/>
        </p:nvSpPr>
        <p:spPr>
          <a:xfrm>
            <a:off x="7565922" y="1553047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FDB762-77CB-4884-B7E2-1D773C7F0BDB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5506065" y="715467"/>
            <a:ext cx="2630128" cy="82328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3E9589-039F-4E62-8C21-B15F06CEA454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06065" y="1246550"/>
            <a:ext cx="2251586" cy="292199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220600-2D5D-4DE0-9F5E-6E88B02908CD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8556981" y="2278244"/>
            <a:ext cx="1589909" cy="439923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B8CD14-5003-4C29-A3B6-5C5F33CAA438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5506065" y="1538749"/>
            <a:ext cx="1135626" cy="1705585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0DD5DA-1FF8-479A-ACC3-E3144025827A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5506065" y="1538749"/>
            <a:ext cx="1458090" cy="1179418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C58D09-ECF6-4EAE-8453-ED4CC340E44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5506065" y="1538749"/>
            <a:ext cx="1759973" cy="686733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D6EB6B-86CE-4673-B6D0-E7B2940364EC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5506065" y="1538749"/>
            <a:ext cx="2059857" cy="198964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DAE9289-CF2B-47B4-9050-29E433323B4E}"/>
              </a:ext>
            </a:extLst>
          </p:cNvPr>
          <p:cNvSpPr/>
          <p:nvPr/>
        </p:nvSpPr>
        <p:spPr>
          <a:xfrm>
            <a:off x="10146890" y="1653655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presentation</a:t>
            </a:r>
            <a:endParaRPr lang="en-NZ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16B730-2DDD-4A50-B82C-B5755003CBA6}"/>
              </a:ext>
            </a:extLst>
          </p:cNvPr>
          <p:cNvSpPr/>
          <p:nvPr/>
        </p:nvSpPr>
        <p:spPr>
          <a:xfrm>
            <a:off x="9237406" y="4351397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</a:t>
            </a:r>
          </a:p>
          <a:p>
            <a:pPr algn="ctr"/>
            <a:r>
              <a:rPr lang="en-US" dirty="0"/>
              <a:t>statistics</a:t>
            </a:r>
            <a:endParaRPr lang="en-NZ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1F039-22BE-43EE-B216-F3D172FD8DFB}"/>
              </a:ext>
            </a:extLst>
          </p:cNvPr>
          <p:cNvCxnSpPr>
            <a:cxnSpLocks/>
            <a:stCxn id="8" idx="3"/>
            <a:endCxn id="32" idx="0"/>
          </p:cNvCxnSpPr>
          <p:nvPr/>
        </p:nvCxnSpPr>
        <p:spPr>
          <a:xfrm>
            <a:off x="8556981" y="2718167"/>
            <a:ext cx="1589909" cy="163323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/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</m:t>
                      </m:r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c 37">
            <a:extLst>
              <a:ext uri="{FF2B5EF4-FFF2-40B4-BE49-F238E27FC236}">
                <a16:creationId xmlns:a16="http://schemas.microsoft.com/office/drawing/2014/main" id="{0E3AFD9C-665F-4270-97B4-35ABA7043C89}"/>
              </a:ext>
            </a:extLst>
          </p:cNvPr>
          <p:cNvSpPr/>
          <p:nvPr/>
        </p:nvSpPr>
        <p:spPr>
          <a:xfrm flipH="1" flipV="1">
            <a:off x="2868792" y="-11600"/>
            <a:ext cx="7415749" cy="6142533"/>
          </a:xfrm>
          <a:prstGeom prst="arc">
            <a:avLst>
              <a:gd name="adj1" fmla="val 13104689"/>
              <a:gd name="adj2" fmla="val 21580468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65B137-DDEC-410A-B692-D2E88759C061}"/>
              </a:ext>
            </a:extLst>
          </p:cNvPr>
          <p:cNvSpPr txBox="1"/>
          <p:nvPr/>
        </p:nvSpPr>
        <p:spPr>
          <a:xfrm>
            <a:off x="5104594" y="5369104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Inference</a:t>
            </a:r>
            <a:endParaRPr lang="en-NZ" sz="2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73C60D-AC74-4AB0-9D9F-419C6162CE8D}"/>
              </a:ext>
            </a:extLst>
          </p:cNvPr>
          <p:cNvSpPr txBox="1"/>
          <p:nvPr/>
        </p:nvSpPr>
        <p:spPr>
          <a:xfrm rot="7832624">
            <a:off x="9017083" y="-106873"/>
            <a:ext cx="7665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...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69E00E-636A-4B83-9C18-20208F2709EC}"/>
              </a:ext>
            </a:extLst>
          </p:cNvPr>
          <p:cNvSpPr txBox="1"/>
          <p:nvPr/>
        </p:nvSpPr>
        <p:spPr>
          <a:xfrm rot="18272706">
            <a:off x="6087589" y="3354651"/>
            <a:ext cx="12458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……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76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B22FB2-93DE-4CBD-9F4E-8B3614B2B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55587" y="2270326"/>
            <a:ext cx="5744511" cy="307764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C4ACD30-F458-4F27-BA76-4B8657AABF42}"/>
              </a:ext>
            </a:extLst>
          </p:cNvPr>
          <p:cNvSpPr/>
          <p:nvPr/>
        </p:nvSpPr>
        <p:spPr>
          <a:xfrm>
            <a:off x="10206829" y="217616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7FED44-E7D6-493E-8F62-ED70CEA67B48}"/>
              </a:ext>
            </a:extLst>
          </p:cNvPr>
          <p:cNvSpPr/>
          <p:nvPr/>
        </p:nvSpPr>
        <p:spPr>
          <a:xfrm>
            <a:off x="4498976" y="198443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502CA8-6284-44CE-B526-B44963F0BCFA}"/>
              </a:ext>
            </a:extLst>
          </p:cNvPr>
          <p:cNvSpPr/>
          <p:nvPr/>
        </p:nvSpPr>
        <p:spPr>
          <a:xfrm>
            <a:off x="4425220" y="5217284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B8A7D5-A049-4B02-A225-AFD2B8290D87}"/>
              </a:ext>
            </a:extLst>
          </p:cNvPr>
          <p:cNvCxnSpPr>
            <a:cxnSpLocks/>
          </p:cNvCxnSpPr>
          <p:nvPr/>
        </p:nvCxnSpPr>
        <p:spPr>
          <a:xfrm>
            <a:off x="2772697" y="1032387"/>
            <a:ext cx="0" cy="410988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292F70-3147-40CF-B7C6-38A3633093F1}"/>
              </a:ext>
            </a:extLst>
          </p:cNvPr>
          <p:cNvCxnSpPr>
            <a:cxnSpLocks/>
          </p:cNvCxnSpPr>
          <p:nvPr/>
        </p:nvCxnSpPr>
        <p:spPr>
          <a:xfrm>
            <a:off x="1150374" y="5142271"/>
            <a:ext cx="911306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/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NZ" sz="2400" dirty="0"/>
                  <a:t> </a:t>
                </a:r>
              </a:p>
              <a:p>
                <a:pPr algn="ctr"/>
                <a:r>
                  <a:rPr lang="en-US" sz="2400" dirty="0"/>
                  <a:t>Unknown </a:t>
                </a:r>
              </a:p>
              <a:p>
                <a:pPr algn="ctr"/>
                <a:r>
                  <a:rPr lang="en-US" sz="2400" dirty="0"/>
                  <a:t>true value </a:t>
                </a:r>
                <a:endParaRPr lang="en-NZ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blipFill>
                <a:blip r:embed="rId4"/>
                <a:stretch>
                  <a:fillRect r="-1064" b="-1066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/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Expected value of the estimator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blipFill>
                <a:blip r:embed="rId5"/>
                <a:stretch>
                  <a:fillRect t="-2317" r="-2941" b="-7722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/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Distribution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values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blipFill>
                <a:blip r:embed="rId6"/>
                <a:stretch>
                  <a:fillRect l="-3119" t="-7792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FBE3E56-D264-42DD-99A4-6B1D5079E434}"/>
              </a:ext>
            </a:extLst>
          </p:cNvPr>
          <p:cNvSpPr/>
          <p:nvPr/>
        </p:nvSpPr>
        <p:spPr>
          <a:xfrm>
            <a:off x="4425220" y="2095791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C55EBF-E389-4CC4-8A19-0FEFFAA36FF5}"/>
              </a:ext>
            </a:extLst>
          </p:cNvPr>
          <p:cNvCxnSpPr>
            <a:cxnSpLocks/>
          </p:cNvCxnSpPr>
          <p:nvPr/>
        </p:nvCxnSpPr>
        <p:spPr>
          <a:xfrm>
            <a:off x="7427843" y="1219200"/>
            <a:ext cx="0" cy="3923071"/>
          </a:xfrm>
          <a:prstGeom prst="line">
            <a:avLst/>
          </a:prstGeom>
          <a:ln w="571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E3C20F-3D70-4DFB-A950-0B3BDA47ACE3}"/>
              </a:ext>
            </a:extLst>
          </p:cNvPr>
          <p:cNvCxnSpPr>
            <a:cxnSpLocks/>
          </p:cNvCxnSpPr>
          <p:nvPr/>
        </p:nvCxnSpPr>
        <p:spPr>
          <a:xfrm>
            <a:off x="3146323" y="5545394"/>
            <a:ext cx="3726425" cy="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/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Bias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blipFill>
                <a:blip r:embed="rId7"/>
                <a:stretch>
                  <a:fillRect l="-9040" t="-7792" r="-24294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/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SE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Standard </a:t>
                </a:r>
              </a:p>
              <a:p>
                <a:pPr algn="ctr"/>
                <a:r>
                  <a:rPr lang="en-NZ" sz="2400" dirty="0"/>
                  <a:t>Error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blipFill>
                <a:blip r:embed="rId8"/>
                <a:stretch>
                  <a:fillRect l="-6637" t="-3015" r="-6195" b="-1005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7F4B612-5612-4522-B566-AE0EBB78F48F}"/>
              </a:ext>
            </a:extLst>
          </p:cNvPr>
          <p:cNvCxnSpPr>
            <a:cxnSpLocks/>
          </p:cNvCxnSpPr>
          <p:nvPr/>
        </p:nvCxnSpPr>
        <p:spPr>
          <a:xfrm>
            <a:off x="7427842" y="4000545"/>
            <a:ext cx="1185216" cy="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0708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D59DED1-B9B5-4B19-AA2E-C6945BB3FCB1}"/>
              </a:ext>
            </a:extLst>
          </p:cNvPr>
          <p:cNvGrpSpPr/>
          <p:nvPr/>
        </p:nvGrpSpPr>
        <p:grpSpPr>
          <a:xfrm>
            <a:off x="2982859" y="3986974"/>
            <a:ext cx="2772697" cy="2605547"/>
            <a:chOff x="2212258" y="1848465"/>
            <a:chExt cx="2772697" cy="260554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08FADBB-AFB3-4832-8577-2C80A023CFB1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FF951E1-385D-45E4-A4DC-074B76F27BBF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F9F841C-DF0E-4883-9618-F58354A8FBCD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5F482D-AF80-4012-8199-0CA242AD60D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0AB373-0F03-4AE0-9128-DAD54A17D82C}"/>
              </a:ext>
            </a:extLst>
          </p:cNvPr>
          <p:cNvGrpSpPr/>
          <p:nvPr/>
        </p:nvGrpSpPr>
        <p:grpSpPr>
          <a:xfrm>
            <a:off x="6373757" y="3986975"/>
            <a:ext cx="2772697" cy="2605547"/>
            <a:chOff x="2212258" y="1848465"/>
            <a:chExt cx="2772697" cy="2605547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FD1770D-6AE6-4BD7-AB5C-CD008114FD0A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CF0F6E6-5B1F-44F3-BFE5-69A632ED0386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DEBDB0-7CC6-4891-982B-51FD17DB4CA8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7262B90-E643-4879-9F80-6E7516F9101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C179E9-D2DE-4B75-A511-3AC711983ADA}"/>
              </a:ext>
            </a:extLst>
          </p:cNvPr>
          <p:cNvGrpSpPr/>
          <p:nvPr/>
        </p:nvGrpSpPr>
        <p:grpSpPr>
          <a:xfrm>
            <a:off x="2982859" y="1072941"/>
            <a:ext cx="2772697" cy="2605547"/>
            <a:chOff x="2212258" y="1848465"/>
            <a:chExt cx="2772697" cy="2605547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970A297-2D74-42CD-914A-70BD7E1714CC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0C4EA5D-412D-409D-A82B-C736CFA8043B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685734-4B28-452B-9800-4C134C9B4AB9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3418887-571A-43EF-AD29-0118849F8D7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9266C87-3BDB-498C-8EFC-4A17424F9454}"/>
              </a:ext>
            </a:extLst>
          </p:cNvPr>
          <p:cNvGrpSpPr/>
          <p:nvPr/>
        </p:nvGrpSpPr>
        <p:grpSpPr>
          <a:xfrm>
            <a:off x="6373757" y="1072941"/>
            <a:ext cx="2772697" cy="2605547"/>
            <a:chOff x="2212258" y="1848465"/>
            <a:chExt cx="2772697" cy="260554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8E96945-59C5-409E-937A-86C0BB459E56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08FC0B-F7D0-4C6E-B946-BF323B12A2AE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5F4AF97-DD52-454F-BD49-269B06062F27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706C4B4-C7A6-4358-9B9F-CEA1A8FC5B6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EB5968F-1408-4CE6-9050-82F6DECDBAB5}"/>
              </a:ext>
            </a:extLst>
          </p:cNvPr>
          <p:cNvSpPr txBox="1"/>
          <p:nvPr/>
        </p:nvSpPr>
        <p:spPr>
          <a:xfrm>
            <a:off x="1816388" y="2191048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Biased</a:t>
            </a:r>
            <a:endParaRPr lang="en-NZ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A6938B-D166-49FA-9777-27F382DFB4DA}"/>
              </a:ext>
            </a:extLst>
          </p:cNvPr>
          <p:cNvSpPr txBox="1"/>
          <p:nvPr/>
        </p:nvSpPr>
        <p:spPr>
          <a:xfrm>
            <a:off x="7025318" y="528473"/>
            <a:ext cx="151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Precision</a:t>
            </a:r>
            <a:endParaRPr lang="en-NZ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89E16E-F8CC-4866-B869-C06456F6AFE9}"/>
              </a:ext>
            </a:extLst>
          </p:cNvPr>
          <p:cNvSpPr txBox="1"/>
          <p:nvPr/>
        </p:nvSpPr>
        <p:spPr>
          <a:xfrm>
            <a:off x="3641382" y="543538"/>
            <a:ext cx="1469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Precision</a:t>
            </a:r>
            <a:endParaRPr lang="en-NZ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CEED08-2FA9-463E-8C62-B359EEDAED9A}"/>
              </a:ext>
            </a:extLst>
          </p:cNvPr>
          <p:cNvSpPr txBox="1"/>
          <p:nvPr/>
        </p:nvSpPr>
        <p:spPr>
          <a:xfrm>
            <a:off x="1683338" y="5105081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Unbiased</a:t>
            </a:r>
            <a:endParaRPr lang="en-NZ" dirty="0"/>
          </a:p>
        </p:txBody>
      </p:sp>
      <p:sp>
        <p:nvSpPr>
          <p:cNvPr id="30" name="Explosion: 8 Points 29">
            <a:extLst>
              <a:ext uri="{FF2B5EF4-FFF2-40B4-BE49-F238E27FC236}">
                <a16:creationId xmlns:a16="http://schemas.microsoft.com/office/drawing/2014/main" id="{3CE1C621-0A47-4C95-B16A-CB5DB8665A2D}"/>
              </a:ext>
            </a:extLst>
          </p:cNvPr>
          <p:cNvSpPr/>
          <p:nvPr/>
        </p:nvSpPr>
        <p:spPr>
          <a:xfrm>
            <a:off x="3540838" y="213975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Explosion: 8 Points 30">
            <a:extLst>
              <a:ext uri="{FF2B5EF4-FFF2-40B4-BE49-F238E27FC236}">
                <a16:creationId xmlns:a16="http://schemas.microsoft.com/office/drawing/2014/main" id="{13E0DC93-BB58-4D74-B12C-099D867E7F57}"/>
              </a:ext>
            </a:extLst>
          </p:cNvPr>
          <p:cNvSpPr/>
          <p:nvPr/>
        </p:nvSpPr>
        <p:spPr>
          <a:xfrm>
            <a:off x="3641382" y="17433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Explosion: 8 Points 31">
            <a:extLst>
              <a:ext uri="{FF2B5EF4-FFF2-40B4-BE49-F238E27FC236}">
                <a16:creationId xmlns:a16="http://schemas.microsoft.com/office/drawing/2014/main" id="{D3224854-CEDD-40FC-87C8-DC5361697B37}"/>
              </a:ext>
            </a:extLst>
          </p:cNvPr>
          <p:cNvSpPr/>
          <p:nvPr/>
        </p:nvSpPr>
        <p:spPr>
          <a:xfrm>
            <a:off x="3307324" y="17384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3" name="Explosion: 8 Points 32">
            <a:extLst>
              <a:ext uri="{FF2B5EF4-FFF2-40B4-BE49-F238E27FC236}">
                <a16:creationId xmlns:a16="http://schemas.microsoft.com/office/drawing/2014/main" id="{C3238C70-4A1B-420D-91C0-383538049D1F}"/>
              </a:ext>
            </a:extLst>
          </p:cNvPr>
          <p:cNvSpPr/>
          <p:nvPr/>
        </p:nvSpPr>
        <p:spPr>
          <a:xfrm>
            <a:off x="3105760" y="2449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Explosion: 8 Points 33">
            <a:extLst>
              <a:ext uri="{FF2B5EF4-FFF2-40B4-BE49-F238E27FC236}">
                <a16:creationId xmlns:a16="http://schemas.microsoft.com/office/drawing/2014/main" id="{4FE6FE4B-9DE8-4B95-B980-D9B69974D076}"/>
              </a:ext>
            </a:extLst>
          </p:cNvPr>
          <p:cNvSpPr/>
          <p:nvPr/>
        </p:nvSpPr>
        <p:spPr>
          <a:xfrm>
            <a:off x="3336820" y="120720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Explosion: 8 Points 34">
            <a:extLst>
              <a:ext uri="{FF2B5EF4-FFF2-40B4-BE49-F238E27FC236}">
                <a16:creationId xmlns:a16="http://schemas.microsoft.com/office/drawing/2014/main" id="{516C10AB-6B81-4CFF-924B-E09380528CDB}"/>
              </a:ext>
            </a:extLst>
          </p:cNvPr>
          <p:cNvSpPr/>
          <p:nvPr/>
        </p:nvSpPr>
        <p:spPr>
          <a:xfrm>
            <a:off x="2825511" y="163459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6" name="Explosion: 8 Points 35">
            <a:extLst>
              <a:ext uri="{FF2B5EF4-FFF2-40B4-BE49-F238E27FC236}">
                <a16:creationId xmlns:a16="http://schemas.microsoft.com/office/drawing/2014/main" id="{73D217D3-FFEC-4A05-A289-49038D9189C6}"/>
              </a:ext>
            </a:extLst>
          </p:cNvPr>
          <p:cNvSpPr/>
          <p:nvPr/>
        </p:nvSpPr>
        <p:spPr>
          <a:xfrm>
            <a:off x="3488919" y="15036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7" name="Explosion: 8 Points 36">
            <a:extLst>
              <a:ext uri="{FF2B5EF4-FFF2-40B4-BE49-F238E27FC236}">
                <a16:creationId xmlns:a16="http://schemas.microsoft.com/office/drawing/2014/main" id="{941EDA6F-0C0D-4C8B-ACC4-3B30FDDB7E8D}"/>
              </a:ext>
            </a:extLst>
          </p:cNvPr>
          <p:cNvSpPr/>
          <p:nvPr/>
        </p:nvSpPr>
        <p:spPr>
          <a:xfrm>
            <a:off x="3366318" y="220977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8" name="Explosion: 8 Points 37">
            <a:extLst>
              <a:ext uri="{FF2B5EF4-FFF2-40B4-BE49-F238E27FC236}">
                <a16:creationId xmlns:a16="http://schemas.microsoft.com/office/drawing/2014/main" id="{A346CA73-1DA8-4509-9B8A-31261E310318}"/>
              </a:ext>
            </a:extLst>
          </p:cNvPr>
          <p:cNvSpPr/>
          <p:nvPr/>
        </p:nvSpPr>
        <p:spPr>
          <a:xfrm>
            <a:off x="3721505" y="232040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9" name="Explosion: 8 Points 38">
            <a:extLst>
              <a:ext uri="{FF2B5EF4-FFF2-40B4-BE49-F238E27FC236}">
                <a16:creationId xmlns:a16="http://schemas.microsoft.com/office/drawing/2014/main" id="{02827723-F815-47D3-8C01-16B8B1C5973D}"/>
              </a:ext>
            </a:extLst>
          </p:cNvPr>
          <p:cNvSpPr/>
          <p:nvPr/>
        </p:nvSpPr>
        <p:spPr>
          <a:xfrm>
            <a:off x="3830213" y="20500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0" name="Explosion: 8 Points 39">
            <a:extLst>
              <a:ext uri="{FF2B5EF4-FFF2-40B4-BE49-F238E27FC236}">
                <a16:creationId xmlns:a16="http://schemas.microsoft.com/office/drawing/2014/main" id="{412FE871-FA12-4B9A-B505-9131FE5C9F62}"/>
              </a:ext>
            </a:extLst>
          </p:cNvPr>
          <p:cNvSpPr/>
          <p:nvPr/>
        </p:nvSpPr>
        <p:spPr>
          <a:xfrm>
            <a:off x="7217248" y="18459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1" name="Explosion: 8 Points 40">
            <a:extLst>
              <a:ext uri="{FF2B5EF4-FFF2-40B4-BE49-F238E27FC236}">
                <a16:creationId xmlns:a16="http://schemas.microsoft.com/office/drawing/2014/main" id="{356FDD3F-7766-472B-ABB5-386EEFB657E4}"/>
              </a:ext>
            </a:extLst>
          </p:cNvPr>
          <p:cNvSpPr/>
          <p:nvPr/>
        </p:nvSpPr>
        <p:spPr>
          <a:xfrm>
            <a:off x="2841456" y="215446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Explosion: 8 Points 41">
            <a:extLst>
              <a:ext uri="{FF2B5EF4-FFF2-40B4-BE49-F238E27FC236}">
                <a16:creationId xmlns:a16="http://schemas.microsoft.com/office/drawing/2014/main" id="{E6DC56EB-0B7C-4373-8A37-0D841CAE1D1C}"/>
              </a:ext>
            </a:extLst>
          </p:cNvPr>
          <p:cNvSpPr/>
          <p:nvPr/>
        </p:nvSpPr>
        <p:spPr>
          <a:xfrm>
            <a:off x="3866843" y="16813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3" name="Explosion: 8 Points 42">
            <a:extLst>
              <a:ext uri="{FF2B5EF4-FFF2-40B4-BE49-F238E27FC236}">
                <a16:creationId xmlns:a16="http://schemas.microsoft.com/office/drawing/2014/main" id="{7C980051-6678-4B5A-A4C0-828102F5A024}"/>
              </a:ext>
            </a:extLst>
          </p:cNvPr>
          <p:cNvSpPr/>
          <p:nvPr/>
        </p:nvSpPr>
        <p:spPr>
          <a:xfrm>
            <a:off x="4166114" y="14686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4" name="Explosion: 8 Points 43">
            <a:extLst>
              <a:ext uri="{FF2B5EF4-FFF2-40B4-BE49-F238E27FC236}">
                <a16:creationId xmlns:a16="http://schemas.microsoft.com/office/drawing/2014/main" id="{4ADC76A8-73B7-4DFE-A428-607389CB0C44}"/>
              </a:ext>
            </a:extLst>
          </p:cNvPr>
          <p:cNvSpPr/>
          <p:nvPr/>
        </p:nvSpPr>
        <p:spPr>
          <a:xfrm>
            <a:off x="4148593" y="240827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5" name="Explosion: 8 Points 44">
            <a:extLst>
              <a:ext uri="{FF2B5EF4-FFF2-40B4-BE49-F238E27FC236}">
                <a16:creationId xmlns:a16="http://schemas.microsoft.com/office/drawing/2014/main" id="{D3B8C348-4386-48D8-9CC2-EE296C13D3C0}"/>
              </a:ext>
            </a:extLst>
          </p:cNvPr>
          <p:cNvSpPr/>
          <p:nvPr/>
        </p:nvSpPr>
        <p:spPr>
          <a:xfrm>
            <a:off x="3561185" y="195535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Explosion: 8 Points 45">
            <a:extLst>
              <a:ext uri="{FF2B5EF4-FFF2-40B4-BE49-F238E27FC236}">
                <a16:creationId xmlns:a16="http://schemas.microsoft.com/office/drawing/2014/main" id="{55F91D68-1D22-417D-A5AB-FBA164092BE9}"/>
              </a:ext>
            </a:extLst>
          </p:cNvPr>
          <p:cNvSpPr/>
          <p:nvPr/>
        </p:nvSpPr>
        <p:spPr>
          <a:xfrm>
            <a:off x="7182460" y="166406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Explosion: 8 Points 46">
            <a:extLst>
              <a:ext uri="{FF2B5EF4-FFF2-40B4-BE49-F238E27FC236}">
                <a16:creationId xmlns:a16="http://schemas.microsoft.com/office/drawing/2014/main" id="{8B716363-2CBD-44FC-A066-F17CEFE91AF4}"/>
              </a:ext>
            </a:extLst>
          </p:cNvPr>
          <p:cNvSpPr/>
          <p:nvPr/>
        </p:nvSpPr>
        <p:spPr>
          <a:xfrm>
            <a:off x="7159044" y="207209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Explosion: 8 Points 47">
            <a:extLst>
              <a:ext uri="{FF2B5EF4-FFF2-40B4-BE49-F238E27FC236}">
                <a16:creationId xmlns:a16="http://schemas.microsoft.com/office/drawing/2014/main" id="{C4455AB3-D020-4E78-AE8C-BDB68DC167AE}"/>
              </a:ext>
            </a:extLst>
          </p:cNvPr>
          <p:cNvSpPr/>
          <p:nvPr/>
        </p:nvSpPr>
        <p:spPr>
          <a:xfrm>
            <a:off x="6899783" y="219104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9" name="Explosion: 8 Points 48">
            <a:extLst>
              <a:ext uri="{FF2B5EF4-FFF2-40B4-BE49-F238E27FC236}">
                <a16:creationId xmlns:a16="http://schemas.microsoft.com/office/drawing/2014/main" id="{EC60E3F5-9D95-42A8-885A-217BCDDA458E}"/>
              </a:ext>
            </a:extLst>
          </p:cNvPr>
          <p:cNvSpPr/>
          <p:nvPr/>
        </p:nvSpPr>
        <p:spPr>
          <a:xfrm>
            <a:off x="7352680" y="19221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0" name="Explosion: 8 Points 49">
            <a:extLst>
              <a:ext uri="{FF2B5EF4-FFF2-40B4-BE49-F238E27FC236}">
                <a16:creationId xmlns:a16="http://schemas.microsoft.com/office/drawing/2014/main" id="{E5FFDF58-4527-4DA0-9680-2E6B2FDAC333}"/>
              </a:ext>
            </a:extLst>
          </p:cNvPr>
          <p:cNvSpPr/>
          <p:nvPr/>
        </p:nvSpPr>
        <p:spPr>
          <a:xfrm>
            <a:off x="7350531" y="17249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1" name="Explosion: 8 Points 50">
            <a:extLst>
              <a:ext uri="{FF2B5EF4-FFF2-40B4-BE49-F238E27FC236}">
                <a16:creationId xmlns:a16="http://schemas.microsoft.com/office/drawing/2014/main" id="{2D2602BC-8FB2-4797-911D-9697AF8FE6C4}"/>
              </a:ext>
            </a:extLst>
          </p:cNvPr>
          <p:cNvSpPr/>
          <p:nvPr/>
        </p:nvSpPr>
        <p:spPr>
          <a:xfrm>
            <a:off x="7039829" y="197995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2" name="Explosion: 8 Points 51">
            <a:extLst>
              <a:ext uri="{FF2B5EF4-FFF2-40B4-BE49-F238E27FC236}">
                <a16:creationId xmlns:a16="http://schemas.microsoft.com/office/drawing/2014/main" id="{E3CA06F5-12AD-4679-B8E1-9ABD5B39E9E9}"/>
              </a:ext>
            </a:extLst>
          </p:cNvPr>
          <p:cNvSpPr/>
          <p:nvPr/>
        </p:nvSpPr>
        <p:spPr>
          <a:xfrm>
            <a:off x="7182460" y="201928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3" name="Explosion: 8 Points 52">
            <a:extLst>
              <a:ext uri="{FF2B5EF4-FFF2-40B4-BE49-F238E27FC236}">
                <a16:creationId xmlns:a16="http://schemas.microsoft.com/office/drawing/2014/main" id="{06A80FE7-6C21-4868-B568-13AE485F2B17}"/>
              </a:ext>
            </a:extLst>
          </p:cNvPr>
          <p:cNvSpPr/>
          <p:nvPr/>
        </p:nvSpPr>
        <p:spPr>
          <a:xfrm>
            <a:off x="7285017" y="20106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4" name="Explosion: 8 Points 53">
            <a:extLst>
              <a:ext uri="{FF2B5EF4-FFF2-40B4-BE49-F238E27FC236}">
                <a16:creationId xmlns:a16="http://schemas.microsoft.com/office/drawing/2014/main" id="{CD4EC6B7-2A77-467B-AFE0-27ECB2C74B41}"/>
              </a:ext>
            </a:extLst>
          </p:cNvPr>
          <p:cNvSpPr/>
          <p:nvPr/>
        </p:nvSpPr>
        <p:spPr>
          <a:xfrm>
            <a:off x="7090592" y="186994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5" name="Explosion: 8 Points 54">
            <a:extLst>
              <a:ext uri="{FF2B5EF4-FFF2-40B4-BE49-F238E27FC236}">
                <a16:creationId xmlns:a16="http://schemas.microsoft.com/office/drawing/2014/main" id="{657D411E-B053-40D1-BFF6-603C7B97985A}"/>
              </a:ext>
            </a:extLst>
          </p:cNvPr>
          <p:cNvSpPr/>
          <p:nvPr/>
        </p:nvSpPr>
        <p:spPr>
          <a:xfrm>
            <a:off x="7023783" y="174767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6" name="Explosion: 8 Points 55">
            <a:extLst>
              <a:ext uri="{FF2B5EF4-FFF2-40B4-BE49-F238E27FC236}">
                <a16:creationId xmlns:a16="http://schemas.microsoft.com/office/drawing/2014/main" id="{E42F77D2-BE0C-49C2-AA5A-1FF27C46E767}"/>
              </a:ext>
            </a:extLst>
          </p:cNvPr>
          <p:cNvSpPr/>
          <p:nvPr/>
        </p:nvSpPr>
        <p:spPr>
          <a:xfrm>
            <a:off x="7175084" y="172799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Explosion: 8 Points 56">
            <a:extLst>
              <a:ext uri="{FF2B5EF4-FFF2-40B4-BE49-F238E27FC236}">
                <a16:creationId xmlns:a16="http://schemas.microsoft.com/office/drawing/2014/main" id="{AABD498A-6448-442E-BCB9-0B3359335A10}"/>
              </a:ext>
            </a:extLst>
          </p:cNvPr>
          <p:cNvSpPr/>
          <p:nvPr/>
        </p:nvSpPr>
        <p:spPr>
          <a:xfrm>
            <a:off x="7718012" y="52758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8" name="Explosion: 8 Points 57">
            <a:extLst>
              <a:ext uri="{FF2B5EF4-FFF2-40B4-BE49-F238E27FC236}">
                <a16:creationId xmlns:a16="http://schemas.microsoft.com/office/drawing/2014/main" id="{672682A5-65D1-4A44-85E0-56629891AE00}"/>
              </a:ext>
            </a:extLst>
          </p:cNvPr>
          <p:cNvSpPr/>
          <p:nvPr/>
        </p:nvSpPr>
        <p:spPr>
          <a:xfrm>
            <a:off x="7751501" y="5190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9" name="Explosion: 8 Points 58">
            <a:extLst>
              <a:ext uri="{FF2B5EF4-FFF2-40B4-BE49-F238E27FC236}">
                <a16:creationId xmlns:a16="http://schemas.microsoft.com/office/drawing/2014/main" id="{16BA0EAB-CD51-497D-8FFB-312C97E6DE52}"/>
              </a:ext>
            </a:extLst>
          </p:cNvPr>
          <p:cNvSpPr/>
          <p:nvPr/>
        </p:nvSpPr>
        <p:spPr>
          <a:xfrm>
            <a:off x="7600641" y="5336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0" name="Explosion: 8 Points 59">
            <a:extLst>
              <a:ext uri="{FF2B5EF4-FFF2-40B4-BE49-F238E27FC236}">
                <a16:creationId xmlns:a16="http://schemas.microsoft.com/office/drawing/2014/main" id="{E5C3029C-AC5A-4DF5-ACF8-9EB9741133FE}"/>
              </a:ext>
            </a:extLst>
          </p:cNvPr>
          <p:cNvSpPr/>
          <p:nvPr/>
        </p:nvSpPr>
        <p:spPr>
          <a:xfrm>
            <a:off x="7667927" y="483342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1" name="Explosion: 8 Points 60">
            <a:extLst>
              <a:ext uri="{FF2B5EF4-FFF2-40B4-BE49-F238E27FC236}">
                <a16:creationId xmlns:a16="http://schemas.microsoft.com/office/drawing/2014/main" id="{A6FCFB75-92BA-482B-9874-C4DE353892B4}"/>
              </a:ext>
            </a:extLst>
          </p:cNvPr>
          <p:cNvSpPr/>
          <p:nvPr/>
        </p:nvSpPr>
        <p:spPr>
          <a:xfrm>
            <a:off x="3071348" y="530449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2" name="Explosion: 8 Points 61">
            <a:extLst>
              <a:ext uri="{FF2B5EF4-FFF2-40B4-BE49-F238E27FC236}">
                <a16:creationId xmlns:a16="http://schemas.microsoft.com/office/drawing/2014/main" id="{EC600B89-F5B0-4DD3-88A8-732FDA9DE79C}"/>
              </a:ext>
            </a:extLst>
          </p:cNvPr>
          <p:cNvSpPr/>
          <p:nvPr/>
        </p:nvSpPr>
        <p:spPr>
          <a:xfrm>
            <a:off x="4984028" y="56682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3" name="Explosion: 8 Points 62">
            <a:extLst>
              <a:ext uri="{FF2B5EF4-FFF2-40B4-BE49-F238E27FC236}">
                <a16:creationId xmlns:a16="http://schemas.microsoft.com/office/drawing/2014/main" id="{3F40D9C7-338D-4F0D-9B39-C72927EAA0EF}"/>
              </a:ext>
            </a:extLst>
          </p:cNvPr>
          <p:cNvSpPr/>
          <p:nvPr/>
        </p:nvSpPr>
        <p:spPr>
          <a:xfrm>
            <a:off x="7842759" y="533212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4" name="Explosion: 8 Points 63">
            <a:extLst>
              <a:ext uri="{FF2B5EF4-FFF2-40B4-BE49-F238E27FC236}">
                <a16:creationId xmlns:a16="http://schemas.microsoft.com/office/drawing/2014/main" id="{A9CC4E8F-2003-4161-9D7E-4DE5153B45A7}"/>
              </a:ext>
            </a:extLst>
          </p:cNvPr>
          <p:cNvSpPr/>
          <p:nvPr/>
        </p:nvSpPr>
        <p:spPr>
          <a:xfrm>
            <a:off x="7297988" y="54359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5" name="Explosion: 8 Points 64">
            <a:extLst>
              <a:ext uri="{FF2B5EF4-FFF2-40B4-BE49-F238E27FC236}">
                <a16:creationId xmlns:a16="http://schemas.microsoft.com/office/drawing/2014/main" id="{698DFE3C-DA0E-447A-A2EE-A121CA38357A}"/>
              </a:ext>
            </a:extLst>
          </p:cNvPr>
          <p:cNvSpPr/>
          <p:nvPr/>
        </p:nvSpPr>
        <p:spPr>
          <a:xfrm>
            <a:off x="7930939" y="516558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6" name="Explosion: 8 Points 65">
            <a:extLst>
              <a:ext uri="{FF2B5EF4-FFF2-40B4-BE49-F238E27FC236}">
                <a16:creationId xmlns:a16="http://schemas.microsoft.com/office/drawing/2014/main" id="{805F8962-41E1-4BA3-B6A4-A602AFECB088}"/>
              </a:ext>
            </a:extLst>
          </p:cNvPr>
          <p:cNvSpPr/>
          <p:nvPr/>
        </p:nvSpPr>
        <p:spPr>
          <a:xfrm>
            <a:off x="7833847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7" name="Explosion: 8 Points 66">
            <a:extLst>
              <a:ext uri="{FF2B5EF4-FFF2-40B4-BE49-F238E27FC236}">
                <a16:creationId xmlns:a16="http://schemas.microsoft.com/office/drawing/2014/main" id="{FD61E424-3F01-45B0-87B7-AF8A8E977756}"/>
              </a:ext>
            </a:extLst>
          </p:cNvPr>
          <p:cNvSpPr/>
          <p:nvPr/>
        </p:nvSpPr>
        <p:spPr>
          <a:xfrm>
            <a:off x="4847297" y="452681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8" name="Explosion: 8 Points 67">
            <a:extLst>
              <a:ext uri="{FF2B5EF4-FFF2-40B4-BE49-F238E27FC236}">
                <a16:creationId xmlns:a16="http://schemas.microsoft.com/office/drawing/2014/main" id="{27C434FC-58F1-48D9-905B-6C8567421262}"/>
              </a:ext>
            </a:extLst>
          </p:cNvPr>
          <p:cNvSpPr/>
          <p:nvPr/>
        </p:nvSpPr>
        <p:spPr>
          <a:xfrm>
            <a:off x="4310211" y="52814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9" name="Explosion: 8 Points 68">
            <a:extLst>
              <a:ext uri="{FF2B5EF4-FFF2-40B4-BE49-F238E27FC236}">
                <a16:creationId xmlns:a16="http://schemas.microsoft.com/office/drawing/2014/main" id="{2066F514-DE1D-4FCB-A74F-76688DAA1650}"/>
              </a:ext>
            </a:extLst>
          </p:cNvPr>
          <p:cNvSpPr/>
          <p:nvPr/>
        </p:nvSpPr>
        <p:spPr>
          <a:xfrm>
            <a:off x="3912471" y="60228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0" name="Explosion: 8 Points 69">
            <a:extLst>
              <a:ext uri="{FF2B5EF4-FFF2-40B4-BE49-F238E27FC236}">
                <a16:creationId xmlns:a16="http://schemas.microsoft.com/office/drawing/2014/main" id="{2A3B8EEF-2DC2-4FD6-B008-E8723FDFF23B}"/>
              </a:ext>
            </a:extLst>
          </p:cNvPr>
          <p:cNvSpPr/>
          <p:nvPr/>
        </p:nvSpPr>
        <p:spPr>
          <a:xfrm>
            <a:off x="3326988" y="578565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1" name="Explosion: 8 Points 70">
            <a:extLst>
              <a:ext uri="{FF2B5EF4-FFF2-40B4-BE49-F238E27FC236}">
                <a16:creationId xmlns:a16="http://schemas.microsoft.com/office/drawing/2014/main" id="{A897765E-4B62-4A04-B755-36591C1CCDF4}"/>
              </a:ext>
            </a:extLst>
          </p:cNvPr>
          <p:cNvSpPr/>
          <p:nvPr/>
        </p:nvSpPr>
        <p:spPr>
          <a:xfrm>
            <a:off x="507958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2" name="Explosion: 8 Points 71">
            <a:extLst>
              <a:ext uri="{FF2B5EF4-FFF2-40B4-BE49-F238E27FC236}">
                <a16:creationId xmlns:a16="http://schemas.microsoft.com/office/drawing/2014/main" id="{97C3238B-33ED-415F-87BF-085A94FD7EDD}"/>
              </a:ext>
            </a:extLst>
          </p:cNvPr>
          <p:cNvSpPr/>
          <p:nvPr/>
        </p:nvSpPr>
        <p:spPr>
          <a:xfrm>
            <a:off x="4791385" y="61562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3" name="Explosion: 8 Points 72">
            <a:extLst>
              <a:ext uri="{FF2B5EF4-FFF2-40B4-BE49-F238E27FC236}">
                <a16:creationId xmlns:a16="http://schemas.microsoft.com/office/drawing/2014/main" id="{AE0C777E-4532-47BD-AA13-AECDE829F3DF}"/>
              </a:ext>
            </a:extLst>
          </p:cNvPr>
          <p:cNvSpPr/>
          <p:nvPr/>
        </p:nvSpPr>
        <p:spPr>
          <a:xfrm>
            <a:off x="3762990" y="51207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4" name="Explosion: 8 Points 73">
            <a:extLst>
              <a:ext uri="{FF2B5EF4-FFF2-40B4-BE49-F238E27FC236}">
                <a16:creationId xmlns:a16="http://schemas.microsoft.com/office/drawing/2014/main" id="{2E60A378-54CB-4D0B-8808-34EE026FF5F0}"/>
              </a:ext>
            </a:extLst>
          </p:cNvPr>
          <p:cNvSpPr/>
          <p:nvPr/>
        </p:nvSpPr>
        <p:spPr>
          <a:xfrm>
            <a:off x="4030606" y="46291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5" name="Explosion: 8 Points 74">
            <a:extLst>
              <a:ext uri="{FF2B5EF4-FFF2-40B4-BE49-F238E27FC236}">
                <a16:creationId xmlns:a16="http://schemas.microsoft.com/office/drawing/2014/main" id="{CFCF0ACF-1CE4-49CA-9A14-46BBD6FC5070}"/>
              </a:ext>
            </a:extLst>
          </p:cNvPr>
          <p:cNvSpPr/>
          <p:nvPr/>
        </p:nvSpPr>
        <p:spPr>
          <a:xfrm>
            <a:off x="4532364" y="506543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Explosion: 8 Points 75">
            <a:extLst>
              <a:ext uri="{FF2B5EF4-FFF2-40B4-BE49-F238E27FC236}">
                <a16:creationId xmlns:a16="http://schemas.microsoft.com/office/drawing/2014/main" id="{5F0D55FD-39F1-4EF0-AF63-A3810C159662}"/>
              </a:ext>
            </a:extLst>
          </p:cNvPr>
          <p:cNvSpPr/>
          <p:nvPr/>
        </p:nvSpPr>
        <p:spPr>
          <a:xfrm>
            <a:off x="4310211" y="416334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Explosion: 8 Points 76">
            <a:extLst>
              <a:ext uri="{FF2B5EF4-FFF2-40B4-BE49-F238E27FC236}">
                <a16:creationId xmlns:a16="http://schemas.microsoft.com/office/drawing/2014/main" id="{004715A0-7287-4104-BC66-0EA1E57F7663}"/>
              </a:ext>
            </a:extLst>
          </p:cNvPr>
          <p:cNvSpPr/>
          <p:nvPr/>
        </p:nvSpPr>
        <p:spPr>
          <a:xfrm>
            <a:off x="3735491" y="4749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Explosion: 8 Points 77">
            <a:extLst>
              <a:ext uri="{FF2B5EF4-FFF2-40B4-BE49-F238E27FC236}">
                <a16:creationId xmlns:a16="http://schemas.microsoft.com/office/drawing/2014/main" id="{5952806F-C966-4CF6-9767-A6E233F12B8A}"/>
              </a:ext>
            </a:extLst>
          </p:cNvPr>
          <p:cNvSpPr/>
          <p:nvPr/>
        </p:nvSpPr>
        <p:spPr>
          <a:xfrm>
            <a:off x="4430046" y="549745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Explosion: 8 Points 78">
            <a:extLst>
              <a:ext uri="{FF2B5EF4-FFF2-40B4-BE49-F238E27FC236}">
                <a16:creationId xmlns:a16="http://schemas.microsoft.com/office/drawing/2014/main" id="{AA7735C6-F9EF-4ED8-87E9-022887809637}"/>
              </a:ext>
            </a:extLst>
          </p:cNvPr>
          <p:cNvSpPr/>
          <p:nvPr/>
        </p:nvSpPr>
        <p:spPr>
          <a:xfrm>
            <a:off x="4107121" y="506791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0" name="Explosion: 8 Points 79">
            <a:extLst>
              <a:ext uri="{FF2B5EF4-FFF2-40B4-BE49-F238E27FC236}">
                <a16:creationId xmlns:a16="http://schemas.microsoft.com/office/drawing/2014/main" id="{49C9386F-C048-4CE5-BDD5-425861D10160}"/>
              </a:ext>
            </a:extLst>
          </p:cNvPr>
          <p:cNvSpPr/>
          <p:nvPr/>
        </p:nvSpPr>
        <p:spPr>
          <a:xfrm>
            <a:off x="3853478" y="545626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1" name="Explosion: 8 Points 80">
            <a:extLst>
              <a:ext uri="{FF2B5EF4-FFF2-40B4-BE49-F238E27FC236}">
                <a16:creationId xmlns:a16="http://schemas.microsoft.com/office/drawing/2014/main" id="{FAB717F5-2BD1-4B9A-95EE-65F9E4C6BEAC}"/>
              </a:ext>
            </a:extLst>
          </p:cNvPr>
          <p:cNvSpPr/>
          <p:nvPr/>
        </p:nvSpPr>
        <p:spPr>
          <a:xfrm>
            <a:off x="7726921" y="556689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2" name="Explosion: 8 Points 81">
            <a:extLst>
              <a:ext uri="{FF2B5EF4-FFF2-40B4-BE49-F238E27FC236}">
                <a16:creationId xmlns:a16="http://schemas.microsoft.com/office/drawing/2014/main" id="{7DDA3F6E-BEA2-4FF2-9457-8BA92BB8DDF0}"/>
              </a:ext>
            </a:extLst>
          </p:cNvPr>
          <p:cNvSpPr/>
          <p:nvPr/>
        </p:nvSpPr>
        <p:spPr>
          <a:xfrm>
            <a:off x="7608934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3" name="Explosion: 8 Points 82">
            <a:extLst>
              <a:ext uri="{FF2B5EF4-FFF2-40B4-BE49-F238E27FC236}">
                <a16:creationId xmlns:a16="http://schemas.microsoft.com/office/drawing/2014/main" id="{DB7AE35E-1998-4E83-9B59-54B9CCCE359F}"/>
              </a:ext>
            </a:extLst>
          </p:cNvPr>
          <p:cNvSpPr/>
          <p:nvPr/>
        </p:nvSpPr>
        <p:spPr>
          <a:xfrm>
            <a:off x="763351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4" name="Explosion: 8 Points 83">
            <a:extLst>
              <a:ext uri="{FF2B5EF4-FFF2-40B4-BE49-F238E27FC236}">
                <a16:creationId xmlns:a16="http://schemas.microsoft.com/office/drawing/2014/main" id="{029D4295-C2F1-48C4-82E0-B9BF54742112}"/>
              </a:ext>
            </a:extLst>
          </p:cNvPr>
          <p:cNvSpPr/>
          <p:nvPr/>
        </p:nvSpPr>
        <p:spPr>
          <a:xfrm>
            <a:off x="7574521" y="519387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5" name="Explosion: 8 Points 84">
            <a:extLst>
              <a:ext uri="{FF2B5EF4-FFF2-40B4-BE49-F238E27FC236}">
                <a16:creationId xmlns:a16="http://schemas.microsoft.com/office/drawing/2014/main" id="{3513AD64-CE96-4336-9A7A-022C52DF3615}"/>
              </a:ext>
            </a:extLst>
          </p:cNvPr>
          <p:cNvSpPr/>
          <p:nvPr/>
        </p:nvSpPr>
        <p:spPr>
          <a:xfrm>
            <a:off x="3861443" y="19000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6" name="Explosion: 8 Points 85">
            <a:extLst>
              <a:ext uri="{FF2B5EF4-FFF2-40B4-BE49-F238E27FC236}">
                <a16:creationId xmlns:a16="http://schemas.microsoft.com/office/drawing/2014/main" id="{FDAF42C0-E0AD-44E2-B2CC-AB8ADAA45F29}"/>
              </a:ext>
            </a:extLst>
          </p:cNvPr>
          <p:cNvSpPr/>
          <p:nvPr/>
        </p:nvSpPr>
        <p:spPr>
          <a:xfrm>
            <a:off x="3390965" y="1944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7" name="Explosion: 8 Points 86">
            <a:extLst>
              <a:ext uri="{FF2B5EF4-FFF2-40B4-BE49-F238E27FC236}">
                <a16:creationId xmlns:a16="http://schemas.microsoft.com/office/drawing/2014/main" id="{7B0DFCEB-401E-41F4-9721-09522FA9F754}"/>
              </a:ext>
            </a:extLst>
          </p:cNvPr>
          <p:cNvSpPr/>
          <p:nvPr/>
        </p:nvSpPr>
        <p:spPr>
          <a:xfrm>
            <a:off x="3395813" y="8191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8" name="Explosion: 8 Points 87">
            <a:extLst>
              <a:ext uri="{FF2B5EF4-FFF2-40B4-BE49-F238E27FC236}">
                <a16:creationId xmlns:a16="http://schemas.microsoft.com/office/drawing/2014/main" id="{BC974A57-190B-4291-A03F-8D69FF5BB7B0}"/>
              </a:ext>
            </a:extLst>
          </p:cNvPr>
          <p:cNvSpPr/>
          <p:nvPr/>
        </p:nvSpPr>
        <p:spPr>
          <a:xfrm>
            <a:off x="3720039" y="135189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4680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855406" y="347641"/>
            <a:ext cx="5240594" cy="33429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463845" y="3167390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2428F-1A61-4657-B4DD-800AA1E5B567}"/>
              </a:ext>
            </a:extLst>
          </p:cNvPr>
          <p:cNvSpPr txBox="1"/>
          <p:nvPr/>
        </p:nvSpPr>
        <p:spPr>
          <a:xfrm>
            <a:off x="3691194" y="2189164"/>
            <a:ext cx="1761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Survey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Population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81FB9-27CC-4790-B040-52AEA213DDCB}"/>
              </a:ext>
            </a:extLst>
          </p:cNvPr>
          <p:cNvSpPr txBox="1"/>
          <p:nvPr/>
        </p:nvSpPr>
        <p:spPr>
          <a:xfrm>
            <a:off x="1104910" y="2666218"/>
            <a:ext cx="10272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Out of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71D30-57C8-4A6C-A25E-7F4CD640C7DA}"/>
              </a:ext>
            </a:extLst>
          </p:cNvPr>
          <p:cNvSpPr txBox="1"/>
          <p:nvPr/>
        </p:nvSpPr>
        <p:spPr>
          <a:xfrm>
            <a:off x="4501271" y="1318660"/>
            <a:ext cx="1421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In scope and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In 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55921-1860-4A0B-AD98-BC06FF2344B7}"/>
              </a:ext>
            </a:extLst>
          </p:cNvPr>
          <p:cNvSpPr txBox="1"/>
          <p:nvPr/>
        </p:nvSpPr>
        <p:spPr>
          <a:xfrm>
            <a:off x="4987754" y="5178332"/>
            <a:ext cx="780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 of</a:t>
            </a:r>
            <a:br>
              <a:rPr lang="en-US" dirty="0"/>
            </a:br>
            <a:r>
              <a:rPr lang="en-US" dirty="0"/>
              <a:t>scope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257584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3227098" y="1846007"/>
            <a:ext cx="1236747" cy="908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Target</a:t>
            </a:r>
          </a:p>
          <a:p>
            <a:pPr algn="ctr"/>
            <a:r>
              <a:rPr lang="en-US" dirty="0"/>
              <a:t>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345858" y="3428999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62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B2F7AA-D969-A42B-1968-F7330BB8E7CB}"/>
              </a:ext>
            </a:extLst>
          </p:cNvPr>
          <p:cNvSpPr/>
          <p:nvPr/>
        </p:nvSpPr>
        <p:spPr>
          <a:xfrm>
            <a:off x="1185333" y="1481667"/>
            <a:ext cx="2683934" cy="4394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C6A11-68E9-B8BF-F196-1F2A9F05CA37}"/>
              </a:ext>
            </a:extLst>
          </p:cNvPr>
          <p:cNvSpPr/>
          <p:nvPr/>
        </p:nvSpPr>
        <p:spPr>
          <a:xfrm>
            <a:off x="1185333" y="1998133"/>
            <a:ext cx="2683934" cy="13546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6F084B-05FF-0728-AE6E-90A043852A67}"/>
              </a:ext>
            </a:extLst>
          </p:cNvPr>
          <p:cNvSpPr/>
          <p:nvPr/>
        </p:nvSpPr>
        <p:spPr>
          <a:xfrm>
            <a:off x="1185333" y="2954866"/>
            <a:ext cx="2683934" cy="1354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2B7E7-42A3-B45B-CFA2-CE2BDDD09774}"/>
              </a:ext>
            </a:extLst>
          </p:cNvPr>
          <p:cNvSpPr/>
          <p:nvPr/>
        </p:nvSpPr>
        <p:spPr>
          <a:xfrm>
            <a:off x="1185333" y="3090333"/>
            <a:ext cx="2683934" cy="13546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816FED-B454-EEA8-5889-DB4648F6A7FA}"/>
              </a:ext>
            </a:extLst>
          </p:cNvPr>
          <p:cNvSpPr/>
          <p:nvPr/>
        </p:nvSpPr>
        <p:spPr>
          <a:xfrm>
            <a:off x="1185333" y="3979333"/>
            <a:ext cx="2683934" cy="1354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66AF98-C661-C6FC-1B45-BAF157DB37B1}"/>
              </a:ext>
            </a:extLst>
          </p:cNvPr>
          <p:cNvSpPr/>
          <p:nvPr/>
        </p:nvSpPr>
        <p:spPr>
          <a:xfrm>
            <a:off x="1185333" y="5376333"/>
            <a:ext cx="2683934" cy="13546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639E42-A04B-CF65-F0A4-FA7F0FECA75C}"/>
              </a:ext>
            </a:extLst>
          </p:cNvPr>
          <p:cNvSpPr/>
          <p:nvPr/>
        </p:nvSpPr>
        <p:spPr>
          <a:xfrm>
            <a:off x="1185333" y="2442633"/>
            <a:ext cx="2683934" cy="13546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153EFB-CDD9-59B5-DB43-C054723BC9E2}"/>
              </a:ext>
            </a:extLst>
          </p:cNvPr>
          <p:cNvSpPr/>
          <p:nvPr/>
        </p:nvSpPr>
        <p:spPr>
          <a:xfrm>
            <a:off x="4754033" y="3090333"/>
            <a:ext cx="2683934" cy="13546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D5FD0-5275-999B-5CDD-E7C054F68513}"/>
              </a:ext>
            </a:extLst>
          </p:cNvPr>
          <p:cNvSpPr/>
          <p:nvPr/>
        </p:nvSpPr>
        <p:spPr>
          <a:xfrm>
            <a:off x="4754033" y="3225800"/>
            <a:ext cx="2683934" cy="13546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F794E8-6E1D-89F0-7A49-19A9DDB1B0F2}"/>
              </a:ext>
            </a:extLst>
          </p:cNvPr>
          <p:cNvSpPr/>
          <p:nvPr/>
        </p:nvSpPr>
        <p:spPr>
          <a:xfrm>
            <a:off x="4754033" y="3361266"/>
            <a:ext cx="2683934" cy="1354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D40267-5DC3-D4B1-82B2-DEC96957A15E}"/>
              </a:ext>
            </a:extLst>
          </p:cNvPr>
          <p:cNvSpPr/>
          <p:nvPr/>
        </p:nvSpPr>
        <p:spPr>
          <a:xfrm>
            <a:off x="4754033" y="3496733"/>
            <a:ext cx="2683934" cy="13546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409FA9-D057-61B6-B38F-9F0FBCE35191}"/>
              </a:ext>
            </a:extLst>
          </p:cNvPr>
          <p:cNvSpPr/>
          <p:nvPr/>
        </p:nvSpPr>
        <p:spPr>
          <a:xfrm>
            <a:off x="4754033" y="3632199"/>
            <a:ext cx="2683934" cy="1354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4B9E43-9DDF-ABA4-EBD9-4E016680EDB0}"/>
              </a:ext>
            </a:extLst>
          </p:cNvPr>
          <p:cNvSpPr/>
          <p:nvPr/>
        </p:nvSpPr>
        <p:spPr>
          <a:xfrm>
            <a:off x="4754033" y="3767666"/>
            <a:ext cx="2683934" cy="13546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0079DB-6379-D015-106D-245A29E21180}"/>
              </a:ext>
            </a:extLst>
          </p:cNvPr>
          <p:cNvSpPr/>
          <p:nvPr/>
        </p:nvSpPr>
        <p:spPr>
          <a:xfrm>
            <a:off x="8322735" y="1481667"/>
            <a:ext cx="2683934" cy="8636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D6082B-C2F4-8C59-471C-811577401EE6}"/>
              </a:ext>
            </a:extLst>
          </p:cNvPr>
          <p:cNvSpPr/>
          <p:nvPr/>
        </p:nvSpPr>
        <p:spPr>
          <a:xfrm>
            <a:off x="8322735" y="2345267"/>
            <a:ext cx="2683934" cy="8636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DDBA51-FD6B-BC73-0020-C22958B0E530}"/>
              </a:ext>
            </a:extLst>
          </p:cNvPr>
          <p:cNvSpPr/>
          <p:nvPr/>
        </p:nvSpPr>
        <p:spPr>
          <a:xfrm>
            <a:off x="8322733" y="3208867"/>
            <a:ext cx="2683934" cy="8636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622CD1-71EF-9AF4-51FB-6E6C9D71FCAF}"/>
              </a:ext>
            </a:extLst>
          </p:cNvPr>
          <p:cNvSpPr/>
          <p:nvPr/>
        </p:nvSpPr>
        <p:spPr>
          <a:xfrm>
            <a:off x="8322733" y="4072467"/>
            <a:ext cx="2683934" cy="8636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0C5883-9F64-8638-3390-7D9B383FCC80}"/>
              </a:ext>
            </a:extLst>
          </p:cNvPr>
          <p:cNvSpPr/>
          <p:nvPr/>
        </p:nvSpPr>
        <p:spPr>
          <a:xfrm>
            <a:off x="8322733" y="4950883"/>
            <a:ext cx="2683934" cy="8636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00A2E1-980D-4795-BE4E-2BF74D2831F4}"/>
              </a:ext>
            </a:extLst>
          </p:cNvPr>
          <p:cNvSpPr txBox="1"/>
          <p:nvPr/>
        </p:nvSpPr>
        <p:spPr>
          <a:xfrm>
            <a:off x="878975" y="1320800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27D7CA-70E3-B91E-3133-CE821C883D4D}"/>
              </a:ext>
            </a:extLst>
          </p:cNvPr>
          <p:cNvSpPr txBox="1"/>
          <p:nvPr/>
        </p:nvSpPr>
        <p:spPr>
          <a:xfrm>
            <a:off x="843550" y="5661052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1B7B56-B2DD-BFA3-21C0-F07FC8864258}"/>
              </a:ext>
            </a:extLst>
          </p:cNvPr>
          <p:cNvSpPr txBox="1"/>
          <p:nvPr/>
        </p:nvSpPr>
        <p:spPr>
          <a:xfrm>
            <a:off x="8007909" y="1320800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FF4747-79C9-ECDC-05DF-AB5E6A756DB8}"/>
              </a:ext>
            </a:extLst>
          </p:cNvPr>
          <p:cNvSpPr txBox="1"/>
          <p:nvPr/>
        </p:nvSpPr>
        <p:spPr>
          <a:xfrm>
            <a:off x="4358776" y="2954866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8DA95E-9B8F-06C6-E84D-37E6B9A19B75}"/>
              </a:ext>
            </a:extLst>
          </p:cNvPr>
          <p:cNvSpPr txBox="1"/>
          <p:nvPr/>
        </p:nvSpPr>
        <p:spPr>
          <a:xfrm>
            <a:off x="4358775" y="3640667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i="1" dirty="0"/>
              <a:t>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780D90-E6C0-165D-A9FF-E4335BB52409}"/>
              </a:ext>
            </a:extLst>
          </p:cNvPr>
          <p:cNvSpPr txBox="1"/>
          <p:nvPr/>
        </p:nvSpPr>
        <p:spPr>
          <a:xfrm>
            <a:off x="7916457" y="5629817"/>
            <a:ext cx="333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C81441-9A4C-C710-3130-337BB85380C6}"/>
              </a:ext>
            </a:extLst>
          </p:cNvPr>
          <p:cNvSpPr txBox="1"/>
          <p:nvPr/>
        </p:nvSpPr>
        <p:spPr>
          <a:xfrm>
            <a:off x="1453696" y="996434"/>
            <a:ext cx="204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Population of size </a:t>
            </a:r>
            <a:r>
              <a:rPr lang="en-NZ" i="1" dirty="0"/>
              <a:t>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DBCF73-BB81-F01D-3721-D2135F642D22}"/>
              </a:ext>
            </a:extLst>
          </p:cNvPr>
          <p:cNvSpPr txBox="1"/>
          <p:nvPr/>
        </p:nvSpPr>
        <p:spPr>
          <a:xfrm>
            <a:off x="5249646" y="2604069"/>
            <a:ext cx="1692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Sample of size </a:t>
            </a:r>
            <a:r>
              <a:rPr lang="en-NZ" i="1" dirty="0"/>
              <a:t>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C5B993-3A78-C7AC-2F2E-CCFF08D93CBA}"/>
              </a:ext>
            </a:extLst>
          </p:cNvPr>
          <p:cNvSpPr txBox="1"/>
          <p:nvPr/>
        </p:nvSpPr>
        <p:spPr>
          <a:xfrm>
            <a:off x="8182787" y="996434"/>
            <a:ext cx="296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Synthetic Population of size </a:t>
            </a:r>
            <a:r>
              <a:rPr lang="en-NZ" i="1" dirty="0"/>
              <a:t>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6B85A32-3CDE-A6C3-FB11-271E00B9711F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3869267" y="2065867"/>
            <a:ext cx="884766" cy="10922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7949A0-ECB6-E79D-9718-CB1CD9D1662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861230" y="3139532"/>
            <a:ext cx="892803" cy="4249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B625E0B-DC7A-C97F-94B9-17BA49C00B1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77304" y="3022600"/>
            <a:ext cx="876729" cy="4064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A71AF4C-B9D7-C431-B8C1-6475F97B3E34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3869264" y="2490517"/>
            <a:ext cx="884769" cy="803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65EE20-D945-616A-6158-AE46B24415FA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3869267" y="3835400"/>
            <a:ext cx="884766" cy="1608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5D1EC7-B1B2-225D-65E5-4CDF745A5852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3869267" y="3699933"/>
            <a:ext cx="884766" cy="3471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E00F7C4-8FB8-214D-083B-5C147FEEF037}"/>
              </a:ext>
            </a:extLst>
          </p:cNvPr>
          <p:cNvCxnSpPr>
            <a:cxnSpLocks/>
          </p:cNvCxnSpPr>
          <p:nvPr/>
        </p:nvCxnSpPr>
        <p:spPr>
          <a:xfrm flipV="1">
            <a:off x="7429930" y="3289300"/>
            <a:ext cx="884766" cy="1354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73C5429-6159-D6A2-FA1D-62C2B8A4F971}"/>
              </a:ext>
            </a:extLst>
          </p:cNvPr>
          <p:cNvCxnSpPr>
            <a:cxnSpLocks/>
          </p:cNvCxnSpPr>
          <p:nvPr/>
        </p:nvCxnSpPr>
        <p:spPr>
          <a:xfrm flipV="1">
            <a:off x="7446004" y="3424766"/>
            <a:ext cx="868692" cy="169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9DC42AA-DEDB-A877-9949-C016B7E1DBD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76729" cy="1015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BF73DEB-34C7-FE32-20B7-7B22E840A48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7446004" y="3441700"/>
            <a:ext cx="876729" cy="1989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E6A2818-1CC8-16E2-FB05-CE6B3721648B}"/>
              </a:ext>
            </a:extLst>
          </p:cNvPr>
          <p:cNvCxnSpPr>
            <a:cxnSpLocks/>
          </p:cNvCxnSpPr>
          <p:nvPr/>
        </p:nvCxnSpPr>
        <p:spPr>
          <a:xfrm>
            <a:off x="7446004" y="3441700"/>
            <a:ext cx="868692" cy="3259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EDD5C43-3FB3-4BD8-900E-B2A60DCA60DB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76729" cy="442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08FB188-A3E8-9C54-BE15-FC28A68CD897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99585" cy="5809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4423BE6-6272-D8E5-F4B5-C9829D19696A}"/>
                  </a:ext>
                </a:extLst>
              </p:cNvPr>
              <p:cNvSpPr txBox="1"/>
              <p:nvPr/>
            </p:nvSpPr>
            <p:spPr>
              <a:xfrm>
                <a:off x="6444821" y="4006850"/>
                <a:ext cx="1713931" cy="1039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NZ" dirty="0"/>
                  <a:t>Replicate each</a:t>
                </a:r>
              </a:p>
              <a:p>
                <a:pPr algn="ctr"/>
                <a:r>
                  <a:rPr lang="en-NZ" dirty="0"/>
                  <a:t>sample member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NZ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NZ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NZ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NZ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NZ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NZ" dirty="0"/>
                  <a:t> times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4423BE6-6272-D8E5-F4B5-C9829D196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821" y="4006850"/>
                <a:ext cx="1713931" cy="1039644"/>
              </a:xfrm>
              <a:prstGeom prst="rect">
                <a:avLst/>
              </a:prstGeom>
              <a:blipFill>
                <a:blip r:embed="rId2"/>
                <a:stretch>
                  <a:fillRect l="-2491" t="-2924" r="-2847" b="-2924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768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951773-C6CD-2C4F-669D-57B4224B93A8}"/>
              </a:ext>
            </a:extLst>
          </p:cNvPr>
          <p:cNvSpPr/>
          <p:nvPr/>
        </p:nvSpPr>
        <p:spPr>
          <a:xfrm>
            <a:off x="855406" y="347641"/>
            <a:ext cx="5240594" cy="33429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761032-00EB-C442-BF9C-432A213F9D6D}"/>
              </a:ext>
            </a:extLst>
          </p:cNvPr>
          <p:cNvSpPr/>
          <p:nvPr/>
        </p:nvSpPr>
        <p:spPr>
          <a:xfrm>
            <a:off x="3039533" y="43688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7F2D32D-A814-E80B-9FAD-F1CDF572E736}"/>
              </a:ext>
            </a:extLst>
          </p:cNvPr>
          <p:cNvSpPr/>
          <p:nvPr/>
        </p:nvSpPr>
        <p:spPr>
          <a:xfrm>
            <a:off x="1684866" y="5486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B0FF126-017C-62E9-E3FF-96D5BBC494C1}"/>
              </a:ext>
            </a:extLst>
          </p:cNvPr>
          <p:cNvSpPr/>
          <p:nvPr/>
        </p:nvSpPr>
        <p:spPr>
          <a:xfrm>
            <a:off x="4487333" y="5469467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9352BDF-BB40-9123-8F4E-AB17B2A870C9}"/>
              </a:ext>
            </a:extLst>
          </p:cNvPr>
          <p:cNvSpPr/>
          <p:nvPr/>
        </p:nvSpPr>
        <p:spPr>
          <a:xfrm>
            <a:off x="4512733" y="4157133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56CB5CF-1964-9E9D-96F2-0727EAC17F2A}"/>
              </a:ext>
            </a:extLst>
          </p:cNvPr>
          <p:cNvSpPr/>
          <p:nvPr/>
        </p:nvSpPr>
        <p:spPr>
          <a:xfrm>
            <a:off x="5803900" y="51562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B3DDF0A-48EC-8B41-6015-702B02862BD1}"/>
              </a:ext>
            </a:extLst>
          </p:cNvPr>
          <p:cNvSpPr/>
          <p:nvPr/>
        </p:nvSpPr>
        <p:spPr>
          <a:xfrm>
            <a:off x="8226160" y="4368800"/>
            <a:ext cx="1295400" cy="9144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Actual sample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91179DC-8759-EE62-6E3D-AECA4AF3BBD5}"/>
              </a:ext>
            </a:extLst>
          </p:cNvPr>
          <p:cNvSpPr/>
          <p:nvPr/>
        </p:nvSpPr>
        <p:spPr>
          <a:xfrm>
            <a:off x="7535333" y="25146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C7E7A2A-77AA-BCB4-7F20-9736160FEB3A}"/>
              </a:ext>
            </a:extLst>
          </p:cNvPr>
          <p:cNvSpPr/>
          <p:nvPr/>
        </p:nvSpPr>
        <p:spPr>
          <a:xfrm>
            <a:off x="6604000" y="1422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51167E-8B77-5C99-A881-848054302B97}"/>
              </a:ext>
            </a:extLst>
          </p:cNvPr>
          <p:cNvSpPr/>
          <p:nvPr/>
        </p:nvSpPr>
        <p:spPr>
          <a:xfrm>
            <a:off x="1261533" y="40386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D9B2B-FC79-42AD-A9F5-BD45D427BB72}"/>
              </a:ext>
            </a:extLst>
          </p:cNvPr>
          <p:cNvSpPr/>
          <p:nvPr/>
        </p:nvSpPr>
        <p:spPr>
          <a:xfrm>
            <a:off x="7535333" y="533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E0056D9-9764-3D4F-F56B-B00A6C340F35}"/>
              </a:ext>
            </a:extLst>
          </p:cNvPr>
          <p:cNvSpPr/>
          <p:nvPr/>
        </p:nvSpPr>
        <p:spPr>
          <a:xfrm>
            <a:off x="4732868" y="14986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9F84BF-00D0-A2CB-40A7-BCB32A2186C1}"/>
              </a:ext>
            </a:extLst>
          </p:cNvPr>
          <p:cNvCxnSpPr>
            <a:stCxn id="14" idx="6"/>
            <a:endCxn id="11" idx="2"/>
          </p:cNvCxnSpPr>
          <p:nvPr/>
        </p:nvCxnSpPr>
        <p:spPr>
          <a:xfrm>
            <a:off x="5283202" y="1689100"/>
            <a:ext cx="1320798" cy="19050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31BDE95F-2003-83DC-D2C2-DF0371B446A5}"/>
              </a:ext>
            </a:extLst>
          </p:cNvPr>
          <p:cNvSpPr/>
          <p:nvPr/>
        </p:nvSpPr>
        <p:spPr>
          <a:xfrm>
            <a:off x="4655873" y="2923098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645EC8-1D7C-71AA-758C-96B52071F277}"/>
              </a:ext>
            </a:extLst>
          </p:cNvPr>
          <p:cNvSpPr/>
          <p:nvPr/>
        </p:nvSpPr>
        <p:spPr>
          <a:xfrm>
            <a:off x="5291671" y="2735416"/>
            <a:ext cx="550334" cy="38100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066AEE-8207-5201-F3F4-62A94C536259}"/>
              </a:ext>
            </a:extLst>
          </p:cNvPr>
          <p:cNvSpPr/>
          <p:nvPr/>
        </p:nvSpPr>
        <p:spPr>
          <a:xfrm>
            <a:off x="3873639" y="2346124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2DE6057-AD61-60BC-0730-A72C0F4B5F17}"/>
              </a:ext>
            </a:extLst>
          </p:cNvPr>
          <p:cNvSpPr/>
          <p:nvPr/>
        </p:nvSpPr>
        <p:spPr>
          <a:xfrm>
            <a:off x="3399508" y="2856984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A983402-9DF0-C014-BF90-50DCC41508DA}"/>
              </a:ext>
            </a:extLst>
          </p:cNvPr>
          <p:cNvSpPr/>
          <p:nvPr/>
        </p:nvSpPr>
        <p:spPr>
          <a:xfrm>
            <a:off x="4792134" y="591809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2D44FEF-A793-03EE-BD21-10F4BBCC7032}"/>
              </a:ext>
            </a:extLst>
          </p:cNvPr>
          <p:cNvSpPr/>
          <p:nvPr/>
        </p:nvSpPr>
        <p:spPr>
          <a:xfrm>
            <a:off x="2878806" y="2057225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47C92D4-B39B-90C0-D8EB-E0E70A51D43C}"/>
              </a:ext>
            </a:extLst>
          </p:cNvPr>
          <p:cNvSpPr/>
          <p:nvPr/>
        </p:nvSpPr>
        <p:spPr>
          <a:xfrm>
            <a:off x="2595170" y="18796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1FA1F43-9C0A-1A64-9FF5-003F68443B7A}"/>
              </a:ext>
            </a:extLst>
          </p:cNvPr>
          <p:cNvSpPr/>
          <p:nvPr/>
        </p:nvSpPr>
        <p:spPr>
          <a:xfrm>
            <a:off x="1566335" y="2853267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B301CC-D992-0C13-B11A-7EC4DA39D3E1}"/>
              </a:ext>
            </a:extLst>
          </p:cNvPr>
          <p:cNvCxnSpPr>
            <a:cxnSpLocks/>
            <a:stCxn id="43" idx="6"/>
          </p:cNvCxnSpPr>
          <p:nvPr/>
        </p:nvCxnSpPr>
        <p:spPr>
          <a:xfrm>
            <a:off x="5342468" y="2468034"/>
            <a:ext cx="2230692" cy="502909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C2742D5-9015-E644-76A7-0DB5BF90B33B}"/>
              </a:ext>
            </a:extLst>
          </p:cNvPr>
          <p:cNvCxnSpPr>
            <a:cxnSpLocks/>
            <a:stCxn id="20" idx="5"/>
            <a:endCxn id="5" idx="1"/>
          </p:cNvCxnSpPr>
          <p:nvPr/>
        </p:nvCxnSpPr>
        <p:spPr>
          <a:xfrm>
            <a:off x="3869247" y="3182188"/>
            <a:ext cx="807793" cy="242119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14E20C0-319C-D7DA-2CD7-0BC795DE61B9}"/>
              </a:ext>
            </a:extLst>
          </p:cNvPr>
          <p:cNvCxnSpPr>
            <a:cxnSpLocks/>
            <a:stCxn id="22" idx="4"/>
            <a:endCxn id="3" idx="0"/>
          </p:cNvCxnSpPr>
          <p:nvPr/>
        </p:nvCxnSpPr>
        <p:spPr>
          <a:xfrm>
            <a:off x="3153973" y="2438225"/>
            <a:ext cx="533260" cy="1930575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E2EECB-29BC-3682-8900-6DD8F1472DC9}"/>
              </a:ext>
            </a:extLst>
          </p:cNvPr>
          <p:cNvCxnSpPr>
            <a:cxnSpLocks/>
            <a:stCxn id="23" idx="4"/>
            <a:endCxn id="4" idx="0"/>
          </p:cNvCxnSpPr>
          <p:nvPr/>
        </p:nvCxnSpPr>
        <p:spPr>
          <a:xfrm flipH="1">
            <a:off x="2332566" y="2260600"/>
            <a:ext cx="537771" cy="322580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310A0A-CE48-B4EE-7173-DC37EC005906}"/>
              </a:ext>
            </a:extLst>
          </p:cNvPr>
          <p:cNvCxnSpPr>
            <a:cxnSpLocks/>
            <a:stCxn id="24" idx="4"/>
            <a:endCxn id="12" idx="0"/>
          </p:cNvCxnSpPr>
          <p:nvPr/>
        </p:nvCxnSpPr>
        <p:spPr>
          <a:xfrm>
            <a:off x="1841502" y="3234267"/>
            <a:ext cx="67731" cy="804333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1F22E79-DC5C-1520-0EB8-6BB95E002CB9}"/>
              </a:ext>
            </a:extLst>
          </p:cNvPr>
          <p:cNvCxnSpPr>
            <a:cxnSpLocks/>
            <a:stCxn id="21" idx="6"/>
            <a:endCxn id="13" idx="2"/>
          </p:cNvCxnSpPr>
          <p:nvPr/>
        </p:nvCxnSpPr>
        <p:spPr>
          <a:xfrm>
            <a:off x="5342468" y="782309"/>
            <a:ext cx="2192865" cy="208291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40E461D-A2E3-5B54-FAE3-D69554822F27}"/>
              </a:ext>
            </a:extLst>
          </p:cNvPr>
          <p:cNvSpPr/>
          <p:nvPr/>
        </p:nvSpPr>
        <p:spPr>
          <a:xfrm>
            <a:off x="4792134" y="2277534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51E3BBF-85F2-C54D-D36E-F8870F391FB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>
            <a:off x="5842005" y="2925916"/>
            <a:ext cx="2573862" cy="1576795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7013284-6491-E66D-7A94-F03424F14514}"/>
              </a:ext>
            </a:extLst>
          </p:cNvPr>
          <p:cNvCxnSpPr>
            <a:cxnSpLocks/>
            <a:stCxn id="17" idx="5"/>
            <a:endCxn id="7" idx="0"/>
          </p:cNvCxnSpPr>
          <p:nvPr/>
        </p:nvCxnSpPr>
        <p:spPr>
          <a:xfrm>
            <a:off x="5125612" y="3248302"/>
            <a:ext cx="1325988" cy="1907898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9A7E782-6FB6-14C3-B3ED-F22310005980}"/>
              </a:ext>
            </a:extLst>
          </p:cNvPr>
          <p:cNvCxnSpPr>
            <a:cxnSpLocks/>
            <a:stCxn id="19" idx="4"/>
            <a:endCxn id="6" idx="0"/>
          </p:cNvCxnSpPr>
          <p:nvPr/>
        </p:nvCxnSpPr>
        <p:spPr>
          <a:xfrm>
            <a:off x="4148806" y="2727124"/>
            <a:ext cx="1011627" cy="1430009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032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C8481-15CC-640C-A8A8-3B6B8FD6C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86ABF1B-D33C-E939-D72C-429F5FDF26CC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8183033" y="1447800"/>
            <a:ext cx="1780216" cy="325023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5D9A6F0-9ECF-7E25-1781-CCEC2BBECD97}"/>
              </a:ext>
            </a:extLst>
          </p:cNvPr>
          <p:cNvCxnSpPr>
            <a:cxnSpLocks/>
            <a:endCxn id="12" idx="6"/>
          </p:cNvCxnSpPr>
          <p:nvPr/>
        </p:nvCxnSpPr>
        <p:spPr>
          <a:xfrm flipH="1" flipV="1">
            <a:off x="2556933" y="4495800"/>
            <a:ext cx="6003268" cy="384946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18C898F-DCE2-E0C1-BD4B-DC30D903574B}"/>
              </a:ext>
            </a:extLst>
          </p:cNvPr>
          <p:cNvCxnSpPr>
            <a:cxnSpLocks/>
            <a:endCxn id="4" idx="6"/>
          </p:cNvCxnSpPr>
          <p:nvPr/>
        </p:nvCxnSpPr>
        <p:spPr>
          <a:xfrm flipH="1">
            <a:off x="2980266" y="5613112"/>
            <a:ext cx="6431628" cy="330488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EECE0-2919-46B0-2062-C3026AD9CA85}"/>
              </a:ext>
            </a:extLst>
          </p:cNvPr>
          <p:cNvCxnSpPr>
            <a:cxnSpLocks/>
            <a:endCxn id="3" idx="6"/>
          </p:cNvCxnSpPr>
          <p:nvPr/>
        </p:nvCxnSpPr>
        <p:spPr>
          <a:xfrm flipH="1" flipV="1">
            <a:off x="4334933" y="4826000"/>
            <a:ext cx="5297234" cy="59690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D8D2D0-EF00-40C3-0905-3A6E26A4E2C6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5782733" y="5515063"/>
            <a:ext cx="2777468" cy="411604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5714C4-1C98-05A3-B1A0-27A7D1066DF8}"/>
              </a:ext>
            </a:extLst>
          </p:cNvPr>
          <p:cNvSpPr/>
          <p:nvPr/>
        </p:nvSpPr>
        <p:spPr>
          <a:xfrm>
            <a:off x="855406" y="347641"/>
            <a:ext cx="5240594" cy="33429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DA98924-1E00-14EA-F118-2D471B2D0502}"/>
              </a:ext>
            </a:extLst>
          </p:cNvPr>
          <p:cNvSpPr/>
          <p:nvPr/>
        </p:nvSpPr>
        <p:spPr>
          <a:xfrm>
            <a:off x="3039533" y="43688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3A092-4C36-A787-AAC6-D4B374903769}"/>
              </a:ext>
            </a:extLst>
          </p:cNvPr>
          <p:cNvSpPr/>
          <p:nvPr/>
        </p:nvSpPr>
        <p:spPr>
          <a:xfrm>
            <a:off x="1684866" y="5486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2C48FD-17CF-373C-76D7-E7244DE868B8}"/>
              </a:ext>
            </a:extLst>
          </p:cNvPr>
          <p:cNvSpPr/>
          <p:nvPr/>
        </p:nvSpPr>
        <p:spPr>
          <a:xfrm>
            <a:off x="4487333" y="5469467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E28D6FE-53C7-DA03-C24A-71250A9B5C4E}"/>
              </a:ext>
            </a:extLst>
          </p:cNvPr>
          <p:cNvSpPr/>
          <p:nvPr/>
        </p:nvSpPr>
        <p:spPr>
          <a:xfrm>
            <a:off x="4512733" y="4157133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FC12CE-CF25-E045-F810-3B21ACB52892}"/>
              </a:ext>
            </a:extLst>
          </p:cNvPr>
          <p:cNvSpPr/>
          <p:nvPr/>
        </p:nvSpPr>
        <p:spPr>
          <a:xfrm>
            <a:off x="5803900" y="51562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626698-6F06-9A17-E39F-996E1CB4DAA1}"/>
              </a:ext>
            </a:extLst>
          </p:cNvPr>
          <p:cNvSpPr/>
          <p:nvPr/>
        </p:nvSpPr>
        <p:spPr>
          <a:xfrm>
            <a:off x="8226160" y="4368799"/>
            <a:ext cx="2280974" cy="158326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/>
              <a:t>sample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4AD74B7-A2EC-E242-51E0-7406E3C90677}"/>
              </a:ext>
            </a:extLst>
          </p:cNvPr>
          <p:cNvSpPr/>
          <p:nvPr/>
        </p:nvSpPr>
        <p:spPr>
          <a:xfrm>
            <a:off x="7912501" y="2448467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2D8696-6312-A5DB-1DC2-8657B598B426}"/>
              </a:ext>
            </a:extLst>
          </p:cNvPr>
          <p:cNvSpPr/>
          <p:nvPr/>
        </p:nvSpPr>
        <p:spPr>
          <a:xfrm>
            <a:off x="6604000" y="1422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ACB078-A711-20FB-D69B-3D0C0BACC330}"/>
              </a:ext>
            </a:extLst>
          </p:cNvPr>
          <p:cNvSpPr/>
          <p:nvPr/>
        </p:nvSpPr>
        <p:spPr>
          <a:xfrm>
            <a:off x="1261533" y="40386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6EEAC9E-EA58-A543-5B6A-E22E1C8906A1}"/>
              </a:ext>
            </a:extLst>
          </p:cNvPr>
          <p:cNvSpPr/>
          <p:nvPr/>
        </p:nvSpPr>
        <p:spPr>
          <a:xfrm>
            <a:off x="7535333" y="533400"/>
            <a:ext cx="1295400" cy="9144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Z" dirty="0" err="1"/>
              <a:t>pseudosample</a:t>
            </a:r>
            <a:endParaRPr lang="en-NZ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44FD3A-E983-793D-8D92-DA1A268AF122}"/>
              </a:ext>
            </a:extLst>
          </p:cNvPr>
          <p:cNvSpPr/>
          <p:nvPr/>
        </p:nvSpPr>
        <p:spPr>
          <a:xfrm>
            <a:off x="8764752" y="4600663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0320A7D-5918-F2DD-6A33-70F811DE35A7}"/>
              </a:ext>
            </a:extLst>
          </p:cNvPr>
          <p:cNvCxnSpPr>
            <a:cxnSpLocks/>
            <a:stCxn id="14" idx="1"/>
            <a:endCxn id="11" idx="4"/>
          </p:cNvCxnSpPr>
          <p:nvPr/>
        </p:nvCxnSpPr>
        <p:spPr>
          <a:xfrm flipH="1" flipV="1">
            <a:off x="7251700" y="2336800"/>
            <a:ext cx="1593647" cy="2319659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03DFA53-6DC9-A636-432F-ED2CC9D986E7}"/>
              </a:ext>
            </a:extLst>
          </p:cNvPr>
          <p:cNvSpPr/>
          <p:nvPr/>
        </p:nvSpPr>
        <p:spPr>
          <a:xfrm>
            <a:off x="8984092" y="54229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F0F13F-B8A6-D80E-A3EE-2AB08276B12B}"/>
              </a:ext>
            </a:extLst>
          </p:cNvPr>
          <p:cNvSpPr/>
          <p:nvPr/>
        </p:nvSpPr>
        <p:spPr>
          <a:xfrm>
            <a:off x="5291671" y="2735416"/>
            <a:ext cx="550334" cy="381000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1D4E4D8-DE4D-AA9C-BD20-D789D377844F}"/>
              </a:ext>
            </a:extLst>
          </p:cNvPr>
          <p:cNvSpPr/>
          <p:nvPr/>
        </p:nvSpPr>
        <p:spPr>
          <a:xfrm>
            <a:off x="8323526" y="4902199"/>
            <a:ext cx="550334" cy="491067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D93AAE4-7B0A-7C18-F1DA-CBFB721F7CC5}"/>
              </a:ext>
            </a:extLst>
          </p:cNvPr>
          <p:cNvSpPr/>
          <p:nvPr/>
        </p:nvSpPr>
        <p:spPr>
          <a:xfrm>
            <a:off x="8496613" y="5194012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4DB9894-2CFE-1D1B-DEA9-2A501CD1A3DF}"/>
              </a:ext>
            </a:extLst>
          </p:cNvPr>
          <p:cNvSpPr/>
          <p:nvPr/>
        </p:nvSpPr>
        <p:spPr>
          <a:xfrm>
            <a:off x="9688082" y="469803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3D7B510-8C88-3AAC-57EA-62891C27C276}"/>
              </a:ext>
            </a:extLst>
          </p:cNvPr>
          <p:cNvSpPr/>
          <p:nvPr/>
        </p:nvSpPr>
        <p:spPr>
          <a:xfrm>
            <a:off x="9632167" y="52070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374A800-8558-14AA-F165-411C87B53723}"/>
              </a:ext>
            </a:extLst>
          </p:cNvPr>
          <p:cNvSpPr/>
          <p:nvPr/>
        </p:nvSpPr>
        <p:spPr>
          <a:xfrm>
            <a:off x="9421576" y="54229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F8BD974-4FCC-D2DC-2D0B-3B6A177DCF2A}"/>
              </a:ext>
            </a:extLst>
          </p:cNvPr>
          <p:cNvSpPr/>
          <p:nvPr/>
        </p:nvSpPr>
        <p:spPr>
          <a:xfrm>
            <a:off x="8586393" y="467360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2DF8131-537C-97C3-A594-7C199C75C8BD}"/>
              </a:ext>
            </a:extLst>
          </p:cNvPr>
          <p:cNvCxnSpPr>
            <a:cxnSpLocks/>
            <a:stCxn id="43" idx="0"/>
            <a:endCxn id="10" idx="4"/>
          </p:cNvCxnSpPr>
          <p:nvPr/>
        </p:nvCxnSpPr>
        <p:spPr>
          <a:xfrm flipH="1" flipV="1">
            <a:off x="8560201" y="3362867"/>
            <a:ext cx="949522" cy="1164683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393FFB0-7D1F-25A3-497E-4645B71F8D32}"/>
              </a:ext>
            </a:extLst>
          </p:cNvPr>
          <p:cNvSpPr/>
          <p:nvPr/>
        </p:nvSpPr>
        <p:spPr>
          <a:xfrm>
            <a:off x="9234556" y="4527550"/>
            <a:ext cx="550334" cy="38100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3067D0A-BFF0-8F85-7FE8-6E105E038BE1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>
            <a:off x="5842005" y="2925916"/>
            <a:ext cx="2718196" cy="1674747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E800C2-4315-B880-F876-204406305048}"/>
              </a:ext>
            </a:extLst>
          </p:cNvPr>
          <p:cNvCxnSpPr>
            <a:cxnSpLocks/>
            <a:stCxn id="17" idx="2"/>
            <a:endCxn id="7" idx="6"/>
          </p:cNvCxnSpPr>
          <p:nvPr/>
        </p:nvCxnSpPr>
        <p:spPr>
          <a:xfrm flipH="1">
            <a:off x="7099300" y="5613400"/>
            <a:ext cx="1884792" cy="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7987919-30B9-51DE-F692-B25423E85130}"/>
              </a:ext>
            </a:extLst>
          </p:cNvPr>
          <p:cNvCxnSpPr>
            <a:cxnSpLocks/>
            <a:stCxn id="19" idx="2"/>
            <a:endCxn id="6" idx="6"/>
          </p:cNvCxnSpPr>
          <p:nvPr/>
        </p:nvCxnSpPr>
        <p:spPr>
          <a:xfrm flipH="1" flipV="1">
            <a:off x="5808133" y="4614333"/>
            <a:ext cx="2515393" cy="53340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09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6EB30D-AA47-9E61-B124-AB4CA02CA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856893"/>
              </p:ext>
            </p:extLst>
          </p:nvPr>
        </p:nvGraphicFramePr>
        <p:xfrm>
          <a:off x="2032000" y="719666"/>
          <a:ext cx="8127999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61490702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62173252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13564334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5580639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90551039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833713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159673250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45676083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057277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PSU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Income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Weight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Rep01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Rep02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Rep03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Rep04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97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528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96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955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06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937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494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107.9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293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161.9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165.7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161.9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33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161.9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165.7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161.9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039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485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179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134.9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138.1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126.1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51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Z" dirty="0"/>
                        <a:t>Total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NZ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1160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1160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1160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1160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dirty="0"/>
                        <a:t>1160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317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7191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1969</TotalTime>
  <Words>561</Words>
  <Application>Microsoft Office PowerPoint</Application>
  <PresentationFormat>Widescreen</PresentationFormat>
  <Paragraphs>256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Richard Arnold</dc:creator>
  <cp:lastModifiedBy>Richard Arnold</cp:lastModifiedBy>
  <cp:revision>28</cp:revision>
  <dcterms:created xsi:type="dcterms:W3CDTF">2020-04-24T02:27:17Z</dcterms:created>
  <dcterms:modified xsi:type="dcterms:W3CDTF">2026-05-03T02:58:15Z</dcterms:modified>
</cp:coreProperties>
</file>